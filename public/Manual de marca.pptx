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2"/>
  </p:notesMasterIdLst>
  <p:handoutMasterIdLst>
    <p:handoutMasterId r:id="rId13"/>
  </p:handoutMasterIdLst>
  <p:sldIdLst>
    <p:sldId id="294" r:id="rId2"/>
    <p:sldId id="299" r:id="rId3"/>
    <p:sldId id="308" r:id="rId4"/>
    <p:sldId id="305" r:id="rId5"/>
    <p:sldId id="300" r:id="rId6"/>
    <p:sldId id="298" r:id="rId7"/>
    <p:sldId id="374" r:id="rId8"/>
    <p:sldId id="373" r:id="rId9"/>
    <p:sldId id="372" r:id="rId10"/>
    <p:sldId id="3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4224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4080" userDrawn="1">
          <p15:clr>
            <a:srgbClr val="A4A3A4"/>
          </p15:clr>
        </p15:guide>
        <p15:guide id="6" orient="horz" pos="1080" userDrawn="1">
          <p15:clr>
            <a:srgbClr val="A4A3A4"/>
          </p15:clr>
        </p15:guide>
        <p15:guide id="7" pos="90" userDrawn="1">
          <p15:clr>
            <a:srgbClr val="A4A3A4"/>
          </p15:clr>
        </p15:guide>
        <p15:guide id="8" pos="5508" userDrawn="1">
          <p15:clr>
            <a:srgbClr val="A4A3A4"/>
          </p15:clr>
        </p15:guide>
        <p15:guide id="9" pos="2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se" initials="m" lastIdx="1" clrIdx="0">
    <p:extLst>
      <p:ext uri="{19B8F6BF-5375-455C-9EA6-DF929625EA0E}">
        <p15:presenceInfo xmlns:p15="http://schemas.microsoft.com/office/powerpoint/2012/main" userId="mus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2D91"/>
    <a:srgbClr val="58595B"/>
    <a:srgbClr val="47B1CA"/>
    <a:srgbClr val="E32D91"/>
    <a:srgbClr val="F7941D"/>
    <a:srgbClr val="A36029"/>
    <a:srgbClr val="D0C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8" autoAdjust="0"/>
    <p:restoredTop sz="94620" autoAdjust="0"/>
  </p:normalViewPr>
  <p:slideViewPr>
    <p:cSldViewPr snapToGrid="0" showGuides="1">
      <p:cViewPr>
        <p:scale>
          <a:sx n="90" d="100"/>
          <a:sy n="90" d="100"/>
        </p:scale>
        <p:origin x="2436" y="492"/>
      </p:cViewPr>
      <p:guideLst>
        <p:guide orient="horz" pos="2472"/>
        <p:guide pos="2880"/>
        <p:guide orient="horz" pos="4224"/>
        <p:guide pos="5670"/>
        <p:guide orient="horz" pos="4080"/>
        <p:guide orient="horz" pos="1080"/>
        <p:guide pos="90"/>
        <p:guide pos="5508"/>
        <p:guide pos="2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187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F22F7B-66AE-4B2E-8309-5BD6864D94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0E75FF-4DCE-4C12-AB5F-0073D2130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34C05-9D2F-4269-842A-D071D764A95A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76FF4-5F74-456D-8D6B-EC783544D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3041F-057D-4A20-92D5-3B82A87BCD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2CDBD-6E31-4971-9D5B-0EEB3B40ABC7}" type="slidenum">
              <a:rPr lang="en-ID" smtClean="0"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2293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8F95A-2D9E-4096-B94F-A850C99FA86D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F974C-B89B-4D66-91D8-6D4B72AF7AD0}" type="slidenum">
              <a:rPr lang="en-ID" smtClean="0"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413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F974C-B89B-4D66-91D8-6D4B72AF7AD0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912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7514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1418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5953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6080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297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4748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182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01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268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7451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6651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06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3568E-DB06-4ADB-A8F9-3481665D65A7}" type="datetime1">
              <a:rPr lang="en-US" smtClean="0"/>
              <a:t>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2C9B1-91C5-4628-8584-501D9F13EF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2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ventas@canaldirecto.com.a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093D399-1593-3B0B-68F1-00CC87EF2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4151"/>
            <a:ext cx="9144000" cy="194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4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CA56A2E0-C068-EF35-89C6-1AE823B37F92}"/>
              </a:ext>
            </a:extLst>
          </p:cNvPr>
          <p:cNvSpPr txBox="1">
            <a:spLocks/>
          </p:cNvSpPr>
          <p:nvPr/>
        </p:nvSpPr>
        <p:spPr>
          <a:xfrm>
            <a:off x="1143000" y="355600"/>
            <a:ext cx="6858000" cy="736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rgbClr val="58595B"/>
                </a:solidFill>
              </a:rPr>
              <a:t>Paleta de </a:t>
            </a:r>
            <a:r>
              <a:rPr lang="en-US" sz="3000" dirty="0" err="1">
                <a:solidFill>
                  <a:srgbClr val="58595B"/>
                </a:solidFill>
              </a:rPr>
              <a:t>colores</a:t>
            </a:r>
            <a:endParaRPr lang="en-US" sz="3000" dirty="0">
              <a:solidFill>
                <a:srgbClr val="58595B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976022-6514-F0F0-F26C-0C3A9DF0A18F}"/>
              </a:ext>
            </a:extLst>
          </p:cNvPr>
          <p:cNvGrpSpPr/>
          <p:nvPr/>
        </p:nvGrpSpPr>
        <p:grpSpPr>
          <a:xfrm>
            <a:off x="3574984" y="1088174"/>
            <a:ext cx="1890000" cy="34289"/>
            <a:chOff x="4331115" y="3903804"/>
            <a:chExt cx="3529771" cy="45719"/>
          </a:xfrm>
        </p:grpSpPr>
        <p:sp>
          <p:nvSpPr>
            <p:cNvPr id="4" name="Rounded Rectangle 18">
              <a:extLst>
                <a:ext uri="{FF2B5EF4-FFF2-40B4-BE49-F238E27FC236}">
                  <a16:creationId xmlns:a16="http://schemas.microsoft.com/office/drawing/2014/main" id="{8F24F4A1-D3C4-FF6D-BB54-298386B45210}"/>
                </a:ext>
              </a:extLst>
            </p:cNvPr>
            <p:cNvSpPr/>
            <p:nvPr/>
          </p:nvSpPr>
          <p:spPr>
            <a:xfrm>
              <a:off x="4331115" y="3903804"/>
              <a:ext cx="705954" cy="45719"/>
            </a:xfrm>
            <a:prstGeom prst="rect">
              <a:avLst/>
            </a:prstGeom>
            <a:solidFill>
              <a:srgbClr val="66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900" b="1">
                <a:solidFill>
                  <a:schemeClr val="bg2"/>
                </a:solidFill>
              </a:endParaRPr>
            </a:p>
          </p:txBody>
        </p:sp>
        <p:sp>
          <p:nvSpPr>
            <p:cNvPr id="5" name="Rounded Rectangle 18">
              <a:extLst>
                <a:ext uri="{FF2B5EF4-FFF2-40B4-BE49-F238E27FC236}">
                  <a16:creationId xmlns:a16="http://schemas.microsoft.com/office/drawing/2014/main" id="{4E3A52C7-CB69-BB91-E733-1005A995F4CA}"/>
                </a:ext>
              </a:extLst>
            </p:cNvPr>
            <p:cNvSpPr/>
            <p:nvPr/>
          </p:nvSpPr>
          <p:spPr>
            <a:xfrm>
              <a:off x="5037069" y="3903804"/>
              <a:ext cx="705954" cy="45719"/>
            </a:xfrm>
            <a:prstGeom prst="rect">
              <a:avLst/>
            </a:prstGeom>
            <a:solidFill>
              <a:srgbClr val="E3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900" b="1">
                <a:solidFill>
                  <a:schemeClr val="bg2"/>
                </a:solidFill>
              </a:endParaRPr>
            </a:p>
          </p:txBody>
        </p:sp>
        <p:sp>
          <p:nvSpPr>
            <p:cNvPr id="6" name="Rounded Rectangle 18">
              <a:extLst>
                <a:ext uri="{FF2B5EF4-FFF2-40B4-BE49-F238E27FC236}">
                  <a16:creationId xmlns:a16="http://schemas.microsoft.com/office/drawing/2014/main" id="{C69691D6-A604-2C4F-6E15-E643828A6202}"/>
                </a:ext>
              </a:extLst>
            </p:cNvPr>
            <p:cNvSpPr/>
            <p:nvPr/>
          </p:nvSpPr>
          <p:spPr>
            <a:xfrm>
              <a:off x="5743023" y="3903804"/>
              <a:ext cx="705954" cy="45719"/>
            </a:xfrm>
            <a:prstGeom prst="rect">
              <a:avLst/>
            </a:prstGeom>
            <a:solidFill>
              <a:srgbClr val="F79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900" b="1">
                <a:solidFill>
                  <a:schemeClr val="bg2"/>
                </a:solidFill>
              </a:endParaRPr>
            </a:p>
          </p:txBody>
        </p:sp>
        <p:sp>
          <p:nvSpPr>
            <p:cNvPr id="7" name="Rounded Rectangle 18">
              <a:extLst>
                <a:ext uri="{FF2B5EF4-FFF2-40B4-BE49-F238E27FC236}">
                  <a16:creationId xmlns:a16="http://schemas.microsoft.com/office/drawing/2014/main" id="{9FE19F8A-11B7-1B8C-1DC3-0CBF6D343610}"/>
                </a:ext>
              </a:extLst>
            </p:cNvPr>
            <p:cNvSpPr/>
            <p:nvPr/>
          </p:nvSpPr>
          <p:spPr>
            <a:xfrm>
              <a:off x="6448978" y="3903804"/>
              <a:ext cx="705954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900" b="1">
                <a:solidFill>
                  <a:schemeClr val="bg2"/>
                </a:solidFill>
              </a:endParaRPr>
            </a:p>
          </p:txBody>
        </p:sp>
        <p:sp>
          <p:nvSpPr>
            <p:cNvPr id="8" name="Rounded Rectangle 18">
              <a:extLst>
                <a:ext uri="{FF2B5EF4-FFF2-40B4-BE49-F238E27FC236}">
                  <a16:creationId xmlns:a16="http://schemas.microsoft.com/office/drawing/2014/main" id="{DB9ECA6F-288B-EC8D-C5E0-FB56D748CFAF}"/>
                </a:ext>
              </a:extLst>
            </p:cNvPr>
            <p:cNvSpPr/>
            <p:nvPr/>
          </p:nvSpPr>
          <p:spPr>
            <a:xfrm>
              <a:off x="7154932" y="3903804"/>
              <a:ext cx="705954" cy="45719"/>
            </a:xfrm>
            <a:prstGeom prst="rect">
              <a:avLst/>
            </a:prstGeom>
            <a:solidFill>
              <a:srgbClr val="47B1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900" b="1">
                <a:solidFill>
                  <a:schemeClr val="bg2"/>
                </a:solidFill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A24D2228-DBC3-7527-1456-97991BB2814A}"/>
              </a:ext>
            </a:extLst>
          </p:cNvPr>
          <p:cNvSpPr txBox="1"/>
          <p:nvPr/>
        </p:nvSpPr>
        <p:spPr>
          <a:xfrm>
            <a:off x="669776" y="1401659"/>
            <a:ext cx="7772160" cy="1015663"/>
          </a:xfrm>
          <a:prstGeom prst="rect">
            <a:avLst/>
          </a:prstGeom>
          <a:solidFill>
            <a:srgbClr val="F7941D"/>
          </a:solidFill>
        </p:spPr>
        <p:txBody>
          <a:bodyPr wrap="squar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</a:rPr>
              <a:t>CANAL DIRECTO (Institucional) 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R: 247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G: 148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B:  29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#F7941D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CA31426-EE81-782D-B09A-30FB4E3E39B8}"/>
              </a:ext>
            </a:extLst>
          </p:cNvPr>
          <p:cNvSpPr txBox="1"/>
          <p:nvPr/>
        </p:nvSpPr>
        <p:spPr>
          <a:xfrm>
            <a:off x="660208" y="2706583"/>
            <a:ext cx="3716748" cy="1015663"/>
          </a:xfrm>
          <a:prstGeom prst="rect">
            <a:avLst/>
          </a:prstGeom>
          <a:solidFill>
            <a:srgbClr val="662D91"/>
          </a:solidFill>
        </p:spPr>
        <p:txBody>
          <a:bodyPr wrap="squar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</a:rPr>
              <a:t>DaaS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R: 102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G: 45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B: 145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#662D91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4DA69D-F3BF-ACC5-D809-90CA4B893FAF}"/>
              </a:ext>
            </a:extLst>
          </p:cNvPr>
          <p:cNvSpPr txBox="1"/>
          <p:nvPr/>
        </p:nvSpPr>
        <p:spPr>
          <a:xfrm>
            <a:off x="669776" y="4011507"/>
            <a:ext cx="3716748" cy="1015663"/>
          </a:xfrm>
          <a:prstGeom prst="rect">
            <a:avLst/>
          </a:prstGeom>
          <a:solidFill>
            <a:srgbClr val="47B1CA"/>
          </a:solidFill>
        </p:spPr>
        <p:txBody>
          <a:bodyPr wrap="squar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</a:rPr>
              <a:t>Digital Signare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R: 71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G: 177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B: 202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#3DB1CA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5444F9A-0676-7E44-182A-2AC350BBCC9F}"/>
              </a:ext>
            </a:extLst>
          </p:cNvPr>
          <p:cNvSpPr txBox="1"/>
          <p:nvPr/>
        </p:nvSpPr>
        <p:spPr>
          <a:xfrm>
            <a:off x="4725188" y="2706583"/>
            <a:ext cx="3716748" cy="1015663"/>
          </a:xfrm>
          <a:prstGeom prst="rect">
            <a:avLst/>
          </a:prstGeom>
          <a:solidFill>
            <a:srgbClr val="E32D91"/>
          </a:solidFill>
        </p:spPr>
        <p:txBody>
          <a:bodyPr wrap="squar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</a:rPr>
              <a:t>Soluciones de Digitalización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R: 227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G: 45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B: 145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#E32D91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1E56041-D570-8100-CAC0-EDE86C7CF807}"/>
              </a:ext>
            </a:extLst>
          </p:cNvPr>
          <p:cNvSpPr txBox="1"/>
          <p:nvPr/>
        </p:nvSpPr>
        <p:spPr>
          <a:xfrm>
            <a:off x="4734756" y="4011507"/>
            <a:ext cx="3716748" cy="1015663"/>
          </a:xfrm>
          <a:prstGeom prst="rect">
            <a:avLst/>
          </a:prstGeom>
          <a:solidFill>
            <a:srgbClr val="58595B"/>
          </a:solidFill>
        </p:spPr>
        <p:txBody>
          <a:bodyPr wrap="squar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</a:rPr>
              <a:t>MPS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R: 88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G: 89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B: 91</a:t>
            </a:r>
          </a:p>
          <a:p>
            <a:r>
              <a:rPr lang="es-AR" sz="1200" b="1" dirty="0">
                <a:solidFill>
                  <a:schemeClr val="bg1"/>
                </a:solidFill>
              </a:rPr>
              <a:t>#58595B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B55868C-8DD4-D2F0-55A8-6230A81B4C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92" y="6297000"/>
            <a:ext cx="2218229" cy="4854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437D41F-5DE9-D374-93D0-02A8AAD24AA2}"/>
              </a:ext>
            </a:extLst>
          </p:cNvPr>
          <p:cNvSpPr txBox="1"/>
          <p:nvPr/>
        </p:nvSpPr>
        <p:spPr>
          <a:xfrm>
            <a:off x="559642" y="5275366"/>
            <a:ext cx="3016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La combinación de colores es servicio + gris</a:t>
            </a:r>
          </a:p>
        </p:txBody>
      </p:sp>
      <p:graphicFrame>
        <p:nvGraphicFramePr>
          <p:cNvPr id="22" name="Tabla 22">
            <a:extLst>
              <a:ext uri="{FF2B5EF4-FFF2-40B4-BE49-F238E27FC236}">
                <a16:creationId xmlns:a16="http://schemas.microsoft.com/office/drawing/2014/main" id="{F39B763F-A8F4-D143-06B9-A9D9F5DB4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068089"/>
              </p:ext>
            </p:extLst>
          </p:nvPr>
        </p:nvGraphicFramePr>
        <p:xfrm>
          <a:off x="669776" y="5588851"/>
          <a:ext cx="12727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358">
                  <a:extLst>
                    <a:ext uri="{9D8B030D-6E8A-4147-A177-3AD203B41FA5}">
                      <a16:colId xmlns:a16="http://schemas.microsoft.com/office/drawing/2014/main" val="3612846595"/>
                    </a:ext>
                  </a:extLst>
                </a:gridCol>
                <a:gridCol w="636358">
                  <a:extLst>
                    <a:ext uri="{9D8B030D-6E8A-4147-A177-3AD203B41FA5}">
                      <a16:colId xmlns:a16="http://schemas.microsoft.com/office/drawing/2014/main" val="872038070"/>
                    </a:ext>
                  </a:extLst>
                </a:gridCol>
              </a:tblGrid>
              <a:tr h="311115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59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122675"/>
                  </a:ext>
                </a:extLst>
              </a:tr>
            </a:tbl>
          </a:graphicData>
        </a:graphic>
      </p:graphicFrame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0D0878C3-5F06-2F2D-2016-884D81028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893676"/>
              </p:ext>
            </p:extLst>
          </p:nvPr>
        </p:nvGraphicFramePr>
        <p:xfrm>
          <a:off x="2163109" y="5588851"/>
          <a:ext cx="12727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358">
                  <a:extLst>
                    <a:ext uri="{9D8B030D-6E8A-4147-A177-3AD203B41FA5}">
                      <a16:colId xmlns:a16="http://schemas.microsoft.com/office/drawing/2014/main" val="1855233478"/>
                    </a:ext>
                  </a:extLst>
                </a:gridCol>
                <a:gridCol w="636358">
                  <a:extLst>
                    <a:ext uri="{9D8B030D-6E8A-4147-A177-3AD203B41FA5}">
                      <a16:colId xmlns:a16="http://schemas.microsoft.com/office/drawing/2014/main" val="1014580914"/>
                    </a:ext>
                  </a:extLst>
                </a:gridCol>
              </a:tblGrid>
              <a:tr h="311115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9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B1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21539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C215C135-B645-DEB5-308A-8261EAD03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440861"/>
              </p:ext>
            </p:extLst>
          </p:nvPr>
        </p:nvGraphicFramePr>
        <p:xfrm>
          <a:off x="2163109" y="6074620"/>
          <a:ext cx="12727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358">
                  <a:extLst>
                    <a:ext uri="{9D8B030D-6E8A-4147-A177-3AD203B41FA5}">
                      <a16:colId xmlns:a16="http://schemas.microsoft.com/office/drawing/2014/main" val="47494100"/>
                    </a:ext>
                  </a:extLst>
                </a:gridCol>
                <a:gridCol w="636358">
                  <a:extLst>
                    <a:ext uri="{9D8B030D-6E8A-4147-A177-3AD203B41FA5}">
                      <a16:colId xmlns:a16="http://schemas.microsoft.com/office/drawing/2014/main" val="1224676032"/>
                    </a:ext>
                  </a:extLst>
                </a:gridCol>
              </a:tblGrid>
              <a:tr h="311115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9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522641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C3BDD67E-AE74-81E0-D409-362B7FDE7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729535"/>
              </p:ext>
            </p:extLst>
          </p:nvPr>
        </p:nvGraphicFramePr>
        <p:xfrm>
          <a:off x="669776" y="6074620"/>
          <a:ext cx="12727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358">
                  <a:extLst>
                    <a:ext uri="{9D8B030D-6E8A-4147-A177-3AD203B41FA5}">
                      <a16:colId xmlns:a16="http://schemas.microsoft.com/office/drawing/2014/main" val="1749131188"/>
                    </a:ext>
                  </a:extLst>
                </a:gridCol>
                <a:gridCol w="636358">
                  <a:extLst>
                    <a:ext uri="{9D8B030D-6E8A-4147-A177-3AD203B41FA5}">
                      <a16:colId xmlns:a16="http://schemas.microsoft.com/office/drawing/2014/main" val="2325389939"/>
                    </a:ext>
                  </a:extLst>
                </a:gridCol>
              </a:tblGrid>
              <a:tr h="311115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9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267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0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D015C66-9A48-B51C-3102-C67BF13CB9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166" y="834387"/>
            <a:ext cx="5486411" cy="27432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5BA100-AE7C-EC26-E4FA-2190A5EC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484" y="834387"/>
            <a:ext cx="5486411" cy="27432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8A02EB2-71AB-D337-ACE4-3BF545551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167" y="3143245"/>
            <a:ext cx="5486411" cy="274320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4A10BF-C040-2F85-B392-48DD0B3FEA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484" y="3143245"/>
            <a:ext cx="5486411" cy="274320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A272EE7-0C8D-86DF-C598-60C4BD3496C2}"/>
              </a:ext>
            </a:extLst>
          </p:cNvPr>
          <p:cNvSpPr txBox="1"/>
          <p:nvPr/>
        </p:nvSpPr>
        <p:spPr>
          <a:xfrm>
            <a:off x="6733046" y="742949"/>
            <a:ext cx="1491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celeste Canal Directo</a:t>
            </a:r>
          </a:p>
          <a:p>
            <a:r>
              <a:rPr lang="es-AR" sz="1200" dirty="0">
                <a:solidFill>
                  <a:srgbClr val="58595B"/>
                </a:solidFill>
              </a:rPr>
              <a:t>(Cartelería)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B282837-14F0-82F3-D6EB-E6733F298CE1}"/>
              </a:ext>
            </a:extLst>
          </p:cNvPr>
          <p:cNvCxnSpPr>
            <a:cxnSpLocks/>
          </p:cNvCxnSpPr>
          <p:nvPr/>
        </p:nvCxnSpPr>
        <p:spPr>
          <a:xfrm flipH="1">
            <a:off x="7150297" y="1389280"/>
            <a:ext cx="176333" cy="581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AD30A22-45C7-D4ED-D13C-9771147CECBF}"/>
              </a:ext>
            </a:extLst>
          </p:cNvPr>
          <p:cNvSpPr txBox="1"/>
          <p:nvPr/>
        </p:nvSpPr>
        <p:spPr>
          <a:xfrm>
            <a:off x="1247026" y="685796"/>
            <a:ext cx="1491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gris Canal Directo</a:t>
            </a:r>
          </a:p>
          <a:p>
            <a:r>
              <a:rPr lang="es-AR" sz="1200" dirty="0">
                <a:solidFill>
                  <a:srgbClr val="58595B"/>
                </a:solidFill>
              </a:rPr>
              <a:t>(MPS)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7F9697F-544A-DD0E-EF68-B2362479017A}"/>
              </a:ext>
            </a:extLst>
          </p:cNvPr>
          <p:cNvCxnSpPr>
            <a:cxnSpLocks/>
          </p:cNvCxnSpPr>
          <p:nvPr/>
        </p:nvCxnSpPr>
        <p:spPr>
          <a:xfrm>
            <a:off x="1835032" y="1332127"/>
            <a:ext cx="256658" cy="485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9CCB4E8-73AB-3ACB-ADC7-BB4D8CCADED8}"/>
              </a:ext>
            </a:extLst>
          </p:cNvPr>
          <p:cNvSpPr txBox="1"/>
          <p:nvPr/>
        </p:nvSpPr>
        <p:spPr>
          <a:xfrm>
            <a:off x="1186084" y="5274414"/>
            <a:ext cx="1491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violeta Canal Directo</a:t>
            </a:r>
          </a:p>
          <a:p>
            <a:r>
              <a:rPr lang="es-AR" sz="1200" dirty="0">
                <a:solidFill>
                  <a:srgbClr val="58595B"/>
                </a:solidFill>
              </a:rPr>
              <a:t>(DaaS)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872FE4C-5DD1-50C0-1841-BEF72A9B8527}"/>
              </a:ext>
            </a:extLst>
          </p:cNvPr>
          <p:cNvCxnSpPr>
            <a:cxnSpLocks/>
          </p:cNvCxnSpPr>
          <p:nvPr/>
        </p:nvCxnSpPr>
        <p:spPr>
          <a:xfrm flipV="1">
            <a:off x="2320028" y="4897223"/>
            <a:ext cx="272019" cy="377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84884C-4E9B-13C0-4300-94B1461239E6}"/>
              </a:ext>
            </a:extLst>
          </p:cNvPr>
          <p:cNvSpPr txBox="1"/>
          <p:nvPr/>
        </p:nvSpPr>
        <p:spPr>
          <a:xfrm>
            <a:off x="6580905" y="5198212"/>
            <a:ext cx="14914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magenta Canal Directo</a:t>
            </a:r>
          </a:p>
          <a:p>
            <a:r>
              <a:rPr lang="es-AR" sz="1200" dirty="0">
                <a:solidFill>
                  <a:srgbClr val="58595B"/>
                </a:solidFill>
              </a:rPr>
              <a:t>(Soluciones de digitalización)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96095BD-9B50-6057-950B-506B422F2BC8}"/>
              </a:ext>
            </a:extLst>
          </p:cNvPr>
          <p:cNvCxnSpPr>
            <a:cxnSpLocks/>
          </p:cNvCxnSpPr>
          <p:nvPr/>
        </p:nvCxnSpPr>
        <p:spPr>
          <a:xfrm flipH="1" flipV="1">
            <a:off x="7039519" y="4812336"/>
            <a:ext cx="397888" cy="343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8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E5664E-B6CD-412F-94C4-C88118965529}"/>
              </a:ext>
            </a:extLst>
          </p:cNvPr>
          <p:cNvGrpSpPr/>
          <p:nvPr/>
        </p:nvGrpSpPr>
        <p:grpSpPr>
          <a:xfrm>
            <a:off x="3712225" y="3918403"/>
            <a:ext cx="1890000" cy="34289"/>
            <a:chOff x="4331115" y="3903804"/>
            <a:chExt cx="3529771" cy="45719"/>
          </a:xfrm>
        </p:grpSpPr>
        <p:sp>
          <p:nvSpPr>
            <p:cNvPr id="6" name="Rounded Rectangle 18">
              <a:extLst>
                <a:ext uri="{FF2B5EF4-FFF2-40B4-BE49-F238E27FC236}">
                  <a16:creationId xmlns:a16="http://schemas.microsoft.com/office/drawing/2014/main" id="{F8D06FF6-6628-48A0-BAE5-43441310E3C5}"/>
                </a:ext>
              </a:extLst>
            </p:cNvPr>
            <p:cNvSpPr/>
            <p:nvPr/>
          </p:nvSpPr>
          <p:spPr>
            <a:xfrm>
              <a:off x="4331115" y="3903804"/>
              <a:ext cx="705954" cy="45719"/>
            </a:xfrm>
            <a:prstGeom prst="rect">
              <a:avLst/>
            </a:prstGeom>
            <a:solidFill>
              <a:srgbClr val="66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7" name="Rounded Rectangle 18">
              <a:extLst>
                <a:ext uri="{FF2B5EF4-FFF2-40B4-BE49-F238E27FC236}">
                  <a16:creationId xmlns:a16="http://schemas.microsoft.com/office/drawing/2014/main" id="{F8D06FF6-6628-48A0-BAE5-43441310E3C5}"/>
                </a:ext>
              </a:extLst>
            </p:cNvPr>
            <p:cNvSpPr/>
            <p:nvPr/>
          </p:nvSpPr>
          <p:spPr>
            <a:xfrm>
              <a:off x="5037069" y="3903804"/>
              <a:ext cx="705954" cy="45719"/>
            </a:xfrm>
            <a:prstGeom prst="rect">
              <a:avLst/>
            </a:prstGeom>
            <a:solidFill>
              <a:srgbClr val="E3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8" name="Rounded Rectangle 18">
              <a:extLst>
                <a:ext uri="{FF2B5EF4-FFF2-40B4-BE49-F238E27FC236}">
                  <a16:creationId xmlns:a16="http://schemas.microsoft.com/office/drawing/2014/main" id="{F8D06FF6-6628-48A0-BAE5-43441310E3C5}"/>
                </a:ext>
              </a:extLst>
            </p:cNvPr>
            <p:cNvSpPr/>
            <p:nvPr/>
          </p:nvSpPr>
          <p:spPr>
            <a:xfrm>
              <a:off x="5743023" y="3903804"/>
              <a:ext cx="705954" cy="45719"/>
            </a:xfrm>
            <a:prstGeom prst="rect">
              <a:avLst/>
            </a:prstGeom>
            <a:solidFill>
              <a:srgbClr val="F79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9" name="Rounded Rectangle 18">
              <a:extLst>
                <a:ext uri="{FF2B5EF4-FFF2-40B4-BE49-F238E27FC236}">
                  <a16:creationId xmlns:a16="http://schemas.microsoft.com/office/drawing/2014/main" id="{F8D06FF6-6628-48A0-BAE5-43441310E3C5}"/>
                </a:ext>
              </a:extLst>
            </p:cNvPr>
            <p:cNvSpPr/>
            <p:nvPr/>
          </p:nvSpPr>
          <p:spPr>
            <a:xfrm>
              <a:off x="6448978" y="3903804"/>
              <a:ext cx="705954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10" name="Rounded Rectangle 18">
              <a:extLst>
                <a:ext uri="{FF2B5EF4-FFF2-40B4-BE49-F238E27FC236}">
                  <a16:creationId xmlns:a16="http://schemas.microsoft.com/office/drawing/2014/main" id="{F8D06FF6-6628-48A0-BAE5-43441310E3C5}"/>
                </a:ext>
              </a:extLst>
            </p:cNvPr>
            <p:cNvSpPr/>
            <p:nvPr/>
          </p:nvSpPr>
          <p:spPr>
            <a:xfrm>
              <a:off x="7154932" y="3903804"/>
              <a:ext cx="705954" cy="45719"/>
            </a:xfrm>
            <a:prstGeom prst="rect">
              <a:avLst/>
            </a:prstGeom>
            <a:solidFill>
              <a:srgbClr val="47B1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792780" y="4061273"/>
            <a:ext cx="3728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/>
                </a:solidFill>
              </a:rPr>
              <a:t>SERVICIOS PARA LA TRANSFORMACIÓN DIGITAL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07A5DB-80AD-DE47-852D-E6A1F57E2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388" y="2627186"/>
            <a:ext cx="6237673" cy="132550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A690871-DC96-D895-CF3D-BF6315F6691D}"/>
              </a:ext>
            </a:extLst>
          </p:cNvPr>
          <p:cNvSpPr txBox="1"/>
          <p:nvPr/>
        </p:nvSpPr>
        <p:spPr>
          <a:xfrm>
            <a:off x="6755906" y="1640063"/>
            <a:ext cx="1491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</a:rPr>
              <a:t>Logo color blanco Canal Directo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A65A323-1696-4A70-0AC9-53D48B96C43A}"/>
              </a:ext>
            </a:extLst>
          </p:cNvPr>
          <p:cNvCxnSpPr/>
          <p:nvPr/>
        </p:nvCxnSpPr>
        <p:spPr>
          <a:xfrm flipH="1">
            <a:off x="7173157" y="2148396"/>
            <a:ext cx="328474" cy="719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F6AAD65-770E-1766-9439-92E18820D36A}"/>
              </a:ext>
            </a:extLst>
          </p:cNvPr>
          <p:cNvCxnSpPr/>
          <p:nvPr/>
        </p:nvCxnSpPr>
        <p:spPr>
          <a:xfrm>
            <a:off x="5814874" y="3918403"/>
            <a:ext cx="1624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3B32357-DEA0-C7A5-6D1C-9EE75695A320}"/>
              </a:ext>
            </a:extLst>
          </p:cNvPr>
          <p:cNvSpPr txBox="1"/>
          <p:nvPr/>
        </p:nvSpPr>
        <p:spPr>
          <a:xfrm>
            <a:off x="7587061" y="3577701"/>
            <a:ext cx="138826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</a:rPr>
              <a:t>Subrayado de colores correspondientes a cada servicio + institucional</a:t>
            </a:r>
          </a:p>
          <a:p>
            <a:endParaRPr lang="es-AR" sz="1200" dirty="0">
              <a:solidFill>
                <a:schemeClr val="bg1"/>
              </a:solidFill>
            </a:endParaRPr>
          </a:p>
          <a:p>
            <a:r>
              <a:rPr lang="es-AR" sz="1200" dirty="0">
                <a:solidFill>
                  <a:schemeClr val="bg1"/>
                </a:solidFill>
              </a:rPr>
              <a:t>Orden: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bg1"/>
                </a:solidFill>
              </a:rPr>
              <a:t>Violeta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bg1"/>
                </a:solidFill>
              </a:rPr>
              <a:t>Magenta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bg1"/>
                </a:solidFill>
              </a:rPr>
              <a:t>Naranja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bg1"/>
                </a:solidFill>
              </a:rPr>
              <a:t>Gris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bg1"/>
                </a:solidFill>
              </a:rPr>
              <a:t>Celeste</a:t>
            </a:r>
          </a:p>
          <a:p>
            <a:endParaRPr lang="es-AR" sz="1200" dirty="0">
              <a:solidFill>
                <a:schemeClr val="bg1"/>
              </a:solidFill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9298E34-B37E-BF98-B8F7-3A56309E3A70}"/>
              </a:ext>
            </a:extLst>
          </p:cNvPr>
          <p:cNvCxnSpPr>
            <a:stCxn id="15" idx="2"/>
          </p:cNvCxnSpPr>
          <p:nvPr/>
        </p:nvCxnSpPr>
        <p:spPr>
          <a:xfrm>
            <a:off x="4657233" y="4369050"/>
            <a:ext cx="3544" cy="52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7361800-CA4C-D512-739B-804008270DB7}"/>
              </a:ext>
            </a:extLst>
          </p:cNvPr>
          <p:cNvSpPr txBox="1"/>
          <p:nvPr/>
        </p:nvSpPr>
        <p:spPr>
          <a:xfrm>
            <a:off x="2871926" y="5023524"/>
            <a:ext cx="40970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</a:rPr>
              <a:t>Subtitulo: “SERVICIOS PARA LA TRANSFORMACIÓN DIGITAL”</a:t>
            </a:r>
          </a:p>
          <a:p>
            <a:endParaRPr lang="es-AR" sz="1200" dirty="0">
              <a:solidFill>
                <a:schemeClr val="bg1"/>
              </a:solidFill>
            </a:endParaRPr>
          </a:p>
          <a:p>
            <a:r>
              <a:rPr lang="es-AR" sz="1200" dirty="0">
                <a:solidFill>
                  <a:schemeClr val="bg1"/>
                </a:solidFill>
              </a:rPr>
              <a:t>Tipografía: Source Sans Pro (Cuerpo)</a:t>
            </a:r>
          </a:p>
          <a:p>
            <a:r>
              <a:rPr lang="es-AR" sz="1200" dirty="0">
                <a:solidFill>
                  <a:schemeClr val="bg1"/>
                </a:solidFill>
              </a:rPr>
              <a:t>Tamaño de la letra: 14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763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03B61E73-0C20-B2BF-9724-383EFEF01E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7" b="13721"/>
          <a:stretch/>
        </p:blipFill>
        <p:spPr>
          <a:xfrm>
            <a:off x="11924" y="2028"/>
            <a:ext cx="9144000" cy="3127066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BB609537-10FC-E971-5322-08E4DD2F7057}"/>
              </a:ext>
            </a:extLst>
          </p:cNvPr>
          <p:cNvSpPr/>
          <p:nvPr/>
        </p:nvSpPr>
        <p:spPr>
          <a:xfrm>
            <a:off x="0" y="0"/>
            <a:ext cx="4572000" cy="3129094"/>
          </a:xfrm>
          <a:prstGeom prst="rect">
            <a:avLst/>
          </a:prstGeom>
          <a:solidFill>
            <a:schemeClr val="tx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0452EBA7-0B5A-01A6-EFCB-6CABF884249A}"/>
              </a:ext>
            </a:extLst>
          </p:cNvPr>
          <p:cNvSpPr txBox="1">
            <a:spLocks/>
          </p:cNvSpPr>
          <p:nvPr/>
        </p:nvSpPr>
        <p:spPr>
          <a:xfrm>
            <a:off x="239554" y="959222"/>
            <a:ext cx="4092893" cy="20058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dirty="0">
                <a:solidFill>
                  <a:srgbClr val="F7941D"/>
                </a:solidFill>
              </a:rPr>
              <a:t>+30 AÑOS </a:t>
            </a:r>
          </a:p>
          <a:p>
            <a:r>
              <a:rPr lang="en-US" sz="4500" dirty="0">
                <a:solidFill>
                  <a:schemeClr val="bg1"/>
                </a:solidFill>
              </a:rPr>
              <a:t>B2B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791CE2D4-7099-72DC-587C-ACCD8F28FB47}"/>
              </a:ext>
            </a:extLst>
          </p:cNvPr>
          <p:cNvSpPr txBox="1"/>
          <p:nvPr/>
        </p:nvSpPr>
        <p:spPr>
          <a:xfrm>
            <a:off x="409744" y="3632196"/>
            <a:ext cx="8348361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2153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Pioneros en la comercialización de la modalidad de Costo por Copia o </a:t>
            </a:r>
            <a:r>
              <a:rPr lang="es-MX" sz="1600" baseline="33333" dirty="0" err="1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Managed</a:t>
            </a: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 </a:t>
            </a:r>
            <a:r>
              <a:rPr lang="es-MX" sz="1600" baseline="33333" dirty="0" err="1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Print</a:t>
            </a: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 </a:t>
            </a:r>
            <a:r>
              <a:rPr lang="es-MX" sz="1600" baseline="33333" dirty="0" err="1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Services</a:t>
            </a: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 (MPS) y en Gestión integral de Documentos Digitales, somos actualmente líderes en el segmento de servicios de impresión. </a:t>
            </a:r>
          </a:p>
          <a:p>
            <a:pPr algn="just" defTabSz="821531" fontAlgn="auto">
              <a:spcBef>
                <a:spcPts val="0"/>
              </a:spcBef>
              <a:spcAft>
                <a:spcPts val="0"/>
              </a:spcAft>
              <a:defRPr/>
            </a:pPr>
            <a:endParaRPr lang="es-MX" sz="1600" baseline="33333" dirty="0">
              <a:solidFill>
                <a:srgbClr val="58595B"/>
              </a:solidFill>
              <a:cs typeface="Arial" panose="020B0604020202020204" pitchFamily="34" charset="0"/>
              <a:sym typeface="Fira Sans Medium"/>
            </a:endParaRPr>
          </a:p>
          <a:p>
            <a:pPr algn="just" defTabSz="82153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Nuestra trayectoria en servicios de tecnología nos permite brindar soluciones as a </a:t>
            </a:r>
            <a:r>
              <a:rPr lang="es-MX" sz="1600" baseline="33333" dirty="0" err="1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Service</a:t>
            </a: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, apuntalados sólidamente en conocimiento técnico sobre múltiples dispositivos, experiencia y una amplia red de servicio en todo el país.</a:t>
            </a:r>
          </a:p>
          <a:p>
            <a:pPr algn="just" defTabSz="821531" fontAlgn="auto">
              <a:spcBef>
                <a:spcPts val="0"/>
              </a:spcBef>
              <a:spcAft>
                <a:spcPts val="0"/>
              </a:spcAft>
              <a:defRPr/>
            </a:pPr>
            <a:endParaRPr lang="es-MX" sz="1600" baseline="33333" dirty="0">
              <a:solidFill>
                <a:srgbClr val="58595B"/>
              </a:solidFill>
              <a:cs typeface="Arial" panose="020B0604020202020204" pitchFamily="34" charset="0"/>
              <a:sym typeface="Fira Sans Medium"/>
            </a:endParaRPr>
          </a:p>
          <a:p>
            <a:pPr algn="just" defTabSz="82153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Estamos comprometidos con la consolidación de las unidades de </a:t>
            </a:r>
            <a:r>
              <a:rPr lang="es-MX" sz="1600" baseline="33333" dirty="0" err="1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Device</a:t>
            </a: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 as a </a:t>
            </a:r>
            <a:r>
              <a:rPr lang="es-MX" sz="1600" baseline="33333" dirty="0" err="1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Service</a:t>
            </a: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, Digital </a:t>
            </a:r>
            <a:r>
              <a:rPr lang="es-MX" sz="1600" baseline="33333" dirty="0" err="1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Signage</a:t>
            </a:r>
            <a:r>
              <a:rPr lang="es-MX" sz="1600" baseline="33333" dirty="0">
                <a:solidFill>
                  <a:srgbClr val="58595B"/>
                </a:solidFill>
                <a:cs typeface="Arial" panose="020B0604020202020204" pitchFamily="34" charset="0"/>
                <a:sym typeface="Fira Sans Medium"/>
              </a:rPr>
              <a:t> y Digitalización con un modelo de negocio de combina Hardware, Servicios y Financiación. </a:t>
            </a:r>
          </a:p>
        </p:txBody>
      </p:sp>
      <p:pic>
        <p:nvPicPr>
          <p:cNvPr id="8" name="Imagen 4">
            <a:extLst>
              <a:ext uri="{FF2B5EF4-FFF2-40B4-BE49-F238E27FC236}">
                <a16:creationId xmlns:a16="http://schemas.microsoft.com/office/drawing/2014/main" id="{799C4C5D-CCB4-E2FC-F6FB-9B1F8146A2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015" y="5646916"/>
            <a:ext cx="450663" cy="45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5">
            <a:extLst>
              <a:ext uri="{FF2B5EF4-FFF2-40B4-BE49-F238E27FC236}">
                <a16:creationId xmlns:a16="http://schemas.microsoft.com/office/drawing/2014/main" id="{24948E60-3B65-6C7A-DE22-2A7F3AF32F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607" y="5646916"/>
            <a:ext cx="450663" cy="45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6">
            <a:extLst>
              <a:ext uri="{FF2B5EF4-FFF2-40B4-BE49-F238E27FC236}">
                <a16:creationId xmlns:a16="http://schemas.microsoft.com/office/drawing/2014/main" id="{9E096339-36C4-D817-C3E8-5AE625226E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49" y="5654122"/>
            <a:ext cx="1336246" cy="444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8ED44DF-EF5D-4975-9D90-2ED3A15F70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386" y="5668060"/>
            <a:ext cx="819061" cy="361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n 14">
            <a:extLst>
              <a:ext uri="{FF2B5EF4-FFF2-40B4-BE49-F238E27FC236}">
                <a16:creationId xmlns:a16="http://schemas.microsoft.com/office/drawing/2014/main" id="{A06976F9-17F9-ACCC-9843-FA7BF5975113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6" t="27644" r="15944" b="30412"/>
          <a:stretch/>
        </p:blipFill>
        <p:spPr bwMode="auto">
          <a:xfrm>
            <a:off x="3577756" y="5634966"/>
            <a:ext cx="1967270" cy="394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253220E-9174-0CE7-0FF0-DCF9058DE66D}"/>
              </a:ext>
            </a:extLst>
          </p:cNvPr>
          <p:cNvSpPr txBox="1"/>
          <p:nvPr/>
        </p:nvSpPr>
        <p:spPr>
          <a:xfrm>
            <a:off x="409744" y="5090145"/>
            <a:ext cx="1887083" cy="503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square" lIns="71437" tIns="71437" rIns="71437" bIns="71437" spcCol="38100" anchor="ctr">
            <a:spAutoFit/>
          </a:bodyPr>
          <a:lstStyle/>
          <a:p>
            <a:pPr algn="ctr" defTabSz="821531"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u="sng" kern="0" baseline="0" dirty="0">
                <a:solidFill>
                  <a:srgbClr val="58595B"/>
                </a:solidFill>
                <a:latin typeface="+mj-lt"/>
                <a:ea typeface="+mn-ea"/>
                <a:cs typeface="+mn-cs"/>
                <a:sym typeface="Helvetica Neue Medium"/>
              </a:rPr>
              <a:t>PARTNERSHIPS:</a:t>
            </a:r>
            <a:endParaRPr lang="es-AR" sz="1600" u="sng" baseline="33333" dirty="0">
              <a:solidFill>
                <a:srgbClr val="58595B"/>
              </a:solidFill>
              <a:latin typeface="+mj-lt"/>
              <a:ea typeface="+mn-ea"/>
              <a:cs typeface="+mn-cs"/>
              <a:sym typeface="Fira Sans Medium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C8A9DCA-B2F3-D5B2-A3E3-EBA30E097B4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92" y="6297000"/>
            <a:ext cx="2218229" cy="48549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F8DB9F-1D59-EF22-A848-1E96E83FFFD6}"/>
              </a:ext>
            </a:extLst>
          </p:cNvPr>
          <p:cNvSpPr txBox="1"/>
          <p:nvPr/>
        </p:nvSpPr>
        <p:spPr>
          <a:xfrm>
            <a:off x="7588526" y="5595834"/>
            <a:ext cx="1491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naranja Canal Directo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6B8F226-B85E-BD50-A49F-EB8308D519B3}"/>
              </a:ext>
            </a:extLst>
          </p:cNvPr>
          <p:cNvCxnSpPr>
            <a:cxnSpLocks/>
          </p:cNvCxnSpPr>
          <p:nvPr/>
        </p:nvCxnSpPr>
        <p:spPr>
          <a:xfrm>
            <a:off x="8334251" y="6104167"/>
            <a:ext cx="0" cy="27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FE503DE-19D1-62CA-5AA3-54282C32E403}"/>
              </a:ext>
            </a:extLst>
          </p:cNvPr>
          <p:cNvSpPr txBox="1"/>
          <p:nvPr/>
        </p:nvSpPr>
        <p:spPr>
          <a:xfrm>
            <a:off x="3348812" y="6488125"/>
            <a:ext cx="1967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Logos de </a:t>
            </a:r>
            <a:r>
              <a:rPr lang="es-AR" sz="1200" dirty="0" err="1">
                <a:solidFill>
                  <a:srgbClr val="58595B"/>
                </a:solidFill>
              </a:rPr>
              <a:t>partners</a:t>
            </a:r>
            <a:endParaRPr lang="es-AR" sz="1200" dirty="0">
              <a:solidFill>
                <a:srgbClr val="58595B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A3C2AEE-318C-B7BD-9D7E-27404AE81568}"/>
              </a:ext>
            </a:extLst>
          </p:cNvPr>
          <p:cNvCxnSpPr>
            <a:cxnSpLocks/>
          </p:cNvCxnSpPr>
          <p:nvPr/>
        </p:nvCxnSpPr>
        <p:spPr>
          <a:xfrm flipH="1" flipV="1">
            <a:off x="3902597" y="6240629"/>
            <a:ext cx="106948" cy="247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D4B2834-6B99-F446-C249-9C8364B686DD}"/>
              </a:ext>
            </a:extLst>
          </p:cNvPr>
          <p:cNvSpPr txBox="1"/>
          <p:nvPr/>
        </p:nvSpPr>
        <p:spPr>
          <a:xfrm>
            <a:off x="3577756" y="4864887"/>
            <a:ext cx="2218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Source Sans Pro (Cuerpo) </a:t>
            </a:r>
          </a:p>
          <a:p>
            <a:r>
              <a:rPr lang="es-AR" sz="1200" dirty="0">
                <a:solidFill>
                  <a:srgbClr val="58595B"/>
                </a:solidFill>
              </a:rPr>
              <a:t>Tamaño: 16</a:t>
            </a:r>
          </a:p>
          <a:p>
            <a:r>
              <a:rPr lang="es-AR" sz="1200" dirty="0">
                <a:solidFill>
                  <a:srgbClr val="58595B"/>
                </a:solidFill>
              </a:rPr>
              <a:t>Color: gris (MPS)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2E851F9-5A4F-6256-3E43-82FDAC39DC7F}"/>
              </a:ext>
            </a:extLst>
          </p:cNvPr>
          <p:cNvCxnSpPr>
            <a:cxnSpLocks/>
          </p:cNvCxnSpPr>
          <p:nvPr/>
        </p:nvCxnSpPr>
        <p:spPr>
          <a:xfrm>
            <a:off x="3357386" y="4849638"/>
            <a:ext cx="200492" cy="138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66F8080-18CA-EA37-84C7-1FB8A96C1B74}"/>
              </a:ext>
            </a:extLst>
          </p:cNvPr>
          <p:cNvSpPr txBox="1"/>
          <p:nvPr/>
        </p:nvSpPr>
        <p:spPr>
          <a:xfrm>
            <a:off x="528549" y="2509335"/>
            <a:ext cx="187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+mj-lt"/>
              </a:rPr>
              <a:t>Montserrat (</a:t>
            </a:r>
            <a:r>
              <a:rPr lang="es-AR" sz="1200" dirty="0" err="1">
                <a:solidFill>
                  <a:schemeClr val="bg1"/>
                </a:solidFill>
                <a:latin typeface="+mj-lt"/>
              </a:rPr>
              <a:t>Titulos</a:t>
            </a:r>
            <a:r>
              <a:rPr lang="es-AR" sz="12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r>
              <a:rPr lang="es-AR" sz="1200" dirty="0">
                <a:solidFill>
                  <a:schemeClr val="bg1"/>
                </a:solidFill>
                <a:latin typeface="+mj-lt"/>
              </a:rPr>
              <a:t>Tamaño: 12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A72CA44-53DD-1551-3518-71B3545779DE}"/>
              </a:ext>
            </a:extLst>
          </p:cNvPr>
          <p:cNvCxnSpPr>
            <a:cxnSpLocks/>
          </p:cNvCxnSpPr>
          <p:nvPr/>
        </p:nvCxnSpPr>
        <p:spPr>
          <a:xfrm>
            <a:off x="1319579" y="2192486"/>
            <a:ext cx="0" cy="27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99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64B8546-75F2-699E-791B-8164D18EA458}"/>
              </a:ext>
            </a:extLst>
          </p:cNvPr>
          <p:cNvSpPr txBox="1">
            <a:spLocks/>
          </p:cNvSpPr>
          <p:nvPr/>
        </p:nvSpPr>
        <p:spPr>
          <a:xfrm>
            <a:off x="1406387" y="340986"/>
            <a:ext cx="6331226" cy="736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rgbClr val="58595B"/>
                </a:solidFill>
              </a:rPr>
              <a:t>DaaS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7B5131-12CE-57BF-96A8-9FD92930493C}"/>
              </a:ext>
            </a:extLst>
          </p:cNvPr>
          <p:cNvGrpSpPr/>
          <p:nvPr/>
        </p:nvGrpSpPr>
        <p:grpSpPr>
          <a:xfrm>
            <a:off x="3627000" y="1077586"/>
            <a:ext cx="1890000" cy="34289"/>
            <a:chOff x="4331115" y="3903804"/>
            <a:chExt cx="3529771" cy="45719"/>
          </a:xfrm>
        </p:grpSpPr>
        <p:sp>
          <p:nvSpPr>
            <p:cNvPr id="4" name="Rounded Rectangle 18">
              <a:extLst>
                <a:ext uri="{FF2B5EF4-FFF2-40B4-BE49-F238E27FC236}">
                  <a16:creationId xmlns:a16="http://schemas.microsoft.com/office/drawing/2014/main" id="{12A6A7F2-0253-1229-A0F4-6628153C7B20}"/>
                </a:ext>
              </a:extLst>
            </p:cNvPr>
            <p:cNvSpPr/>
            <p:nvPr/>
          </p:nvSpPr>
          <p:spPr>
            <a:xfrm>
              <a:off x="4331115" y="3903804"/>
              <a:ext cx="705954" cy="45719"/>
            </a:xfrm>
            <a:prstGeom prst="rect">
              <a:avLst/>
            </a:prstGeom>
            <a:solidFill>
              <a:srgbClr val="66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5" name="Rounded Rectangle 18">
              <a:extLst>
                <a:ext uri="{FF2B5EF4-FFF2-40B4-BE49-F238E27FC236}">
                  <a16:creationId xmlns:a16="http://schemas.microsoft.com/office/drawing/2014/main" id="{6E5A3007-7F0A-0F25-0387-8F80FC7F9130}"/>
                </a:ext>
              </a:extLst>
            </p:cNvPr>
            <p:cNvSpPr/>
            <p:nvPr/>
          </p:nvSpPr>
          <p:spPr>
            <a:xfrm>
              <a:off x="5037069" y="3903804"/>
              <a:ext cx="705954" cy="45719"/>
            </a:xfrm>
            <a:prstGeom prst="rect">
              <a:avLst/>
            </a:prstGeom>
            <a:solidFill>
              <a:srgbClr val="E3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6" name="Rounded Rectangle 18">
              <a:extLst>
                <a:ext uri="{FF2B5EF4-FFF2-40B4-BE49-F238E27FC236}">
                  <a16:creationId xmlns:a16="http://schemas.microsoft.com/office/drawing/2014/main" id="{F31A704C-66C7-DC99-41B7-DB56734322D7}"/>
                </a:ext>
              </a:extLst>
            </p:cNvPr>
            <p:cNvSpPr/>
            <p:nvPr/>
          </p:nvSpPr>
          <p:spPr>
            <a:xfrm>
              <a:off x="5743023" y="3903804"/>
              <a:ext cx="705954" cy="45719"/>
            </a:xfrm>
            <a:prstGeom prst="rect">
              <a:avLst/>
            </a:prstGeom>
            <a:solidFill>
              <a:srgbClr val="F79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7" name="Rounded Rectangle 18">
              <a:extLst>
                <a:ext uri="{FF2B5EF4-FFF2-40B4-BE49-F238E27FC236}">
                  <a16:creationId xmlns:a16="http://schemas.microsoft.com/office/drawing/2014/main" id="{31303237-B058-10D4-23A5-8850ED92DA9D}"/>
                </a:ext>
              </a:extLst>
            </p:cNvPr>
            <p:cNvSpPr/>
            <p:nvPr/>
          </p:nvSpPr>
          <p:spPr>
            <a:xfrm>
              <a:off x="6448978" y="3903804"/>
              <a:ext cx="705954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8" name="Rounded Rectangle 18">
              <a:extLst>
                <a:ext uri="{FF2B5EF4-FFF2-40B4-BE49-F238E27FC236}">
                  <a16:creationId xmlns:a16="http://schemas.microsoft.com/office/drawing/2014/main" id="{51003F04-D8C7-1535-0C3D-63E0024AA4A6}"/>
                </a:ext>
              </a:extLst>
            </p:cNvPr>
            <p:cNvSpPr/>
            <p:nvPr/>
          </p:nvSpPr>
          <p:spPr>
            <a:xfrm>
              <a:off x="7154932" y="3903804"/>
              <a:ext cx="705954" cy="45719"/>
            </a:xfrm>
            <a:prstGeom prst="rect">
              <a:avLst/>
            </a:prstGeom>
            <a:solidFill>
              <a:srgbClr val="47B1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5CEC349B-4133-1122-216D-5F531FBCDCC8}"/>
              </a:ext>
            </a:extLst>
          </p:cNvPr>
          <p:cNvSpPr txBox="1"/>
          <p:nvPr/>
        </p:nvSpPr>
        <p:spPr>
          <a:xfrm>
            <a:off x="7588526" y="5595834"/>
            <a:ext cx="1491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violeta Canal Directo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20A6952-6910-5DBD-5185-A8705E51A596}"/>
              </a:ext>
            </a:extLst>
          </p:cNvPr>
          <p:cNvCxnSpPr>
            <a:cxnSpLocks/>
          </p:cNvCxnSpPr>
          <p:nvPr/>
        </p:nvCxnSpPr>
        <p:spPr>
          <a:xfrm>
            <a:off x="8334251" y="6104167"/>
            <a:ext cx="0" cy="27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3854336E-E94F-4856-EAA4-0E25836C09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0" t="39067" r="18771" b="37954"/>
          <a:stretch/>
        </p:blipFill>
        <p:spPr>
          <a:xfrm>
            <a:off x="6831694" y="6375399"/>
            <a:ext cx="2218229" cy="413395"/>
          </a:xfrm>
          <a:prstGeom prst="rect">
            <a:avLst/>
          </a:prstGeom>
        </p:spPr>
      </p:pic>
      <p:sp>
        <p:nvSpPr>
          <p:cNvPr id="14" name="Subtitle 12">
            <a:extLst>
              <a:ext uri="{FF2B5EF4-FFF2-40B4-BE49-F238E27FC236}">
                <a16:creationId xmlns:a16="http://schemas.microsoft.com/office/drawing/2014/main" id="{D48100AD-2079-335E-0A8F-F0F4D8C3B204}"/>
              </a:ext>
            </a:extLst>
          </p:cNvPr>
          <p:cNvSpPr txBox="1">
            <a:spLocks/>
          </p:cNvSpPr>
          <p:nvPr/>
        </p:nvSpPr>
        <p:spPr>
          <a:xfrm>
            <a:off x="1143000" y="1383107"/>
            <a:ext cx="6858000" cy="376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AR" sz="1050" dirty="0">
                <a:solidFill>
                  <a:srgbClr val="58595B"/>
                </a:solidFill>
              </a:rPr>
              <a:t>DaaS es la combinación de </a:t>
            </a:r>
            <a:r>
              <a:rPr lang="es-AR" sz="1050" b="1" dirty="0">
                <a:solidFill>
                  <a:srgbClr val="662D91"/>
                </a:solidFill>
              </a:rPr>
              <a:t>HARDWARE DE CÓMPUTO + SOFTWARE + SERVICIOS + FINANCIACIÓN </a:t>
            </a:r>
            <a:r>
              <a:rPr lang="es-AR" sz="1050" dirty="0">
                <a:solidFill>
                  <a:srgbClr val="58595B"/>
                </a:solidFill>
              </a:rPr>
              <a:t>durante todo el ciclo de vida de un dispositivo por un fee mensual. DaaS es </a:t>
            </a:r>
            <a:r>
              <a:rPr lang="es-AR" sz="1050" b="1" dirty="0">
                <a:solidFill>
                  <a:srgbClr val="58595B"/>
                </a:solidFill>
              </a:rPr>
              <a:t>FLEXIBILIDAD</a:t>
            </a:r>
            <a:r>
              <a:rPr lang="es-AR" sz="1050" dirty="0">
                <a:solidFill>
                  <a:srgbClr val="58595B"/>
                </a:solidFill>
              </a:rPr>
              <a:t> y </a:t>
            </a:r>
            <a:r>
              <a:rPr lang="es-AR" sz="1050" b="1" dirty="0">
                <a:solidFill>
                  <a:srgbClr val="58595B"/>
                </a:solidFill>
              </a:rPr>
              <a:t>CONTINUIDAD OPERATIVA </a:t>
            </a:r>
            <a:r>
              <a:rPr lang="es-AR" sz="1050" dirty="0">
                <a:solidFill>
                  <a:srgbClr val="58595B"/>
                </a:solidFill>
              </a:rPr>
              <a:t>para el negocio.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281E2A0A-56F3-A441-F3C2-5FD618A86590}"/>
              </a:ext>
            </a:extLst>
          </p:cNvPr>
          <p:cNvGrpSpPr>
            <a:grpSpLocks/>
          </p:cNvGrpSpPr>
          <p:nvPr/>
        </p:nvGrpSpPr>
        <p:grpSpPr bwMode="auto">
          <a:xfrm>
            <a:off x="1013629" y="2491172"/>
            <a:ext cx="7116741" cy="1657081"/>
            <a:chOff x="1755986" y="5843068"/>
            <a:chExt cx="20964087" cy="5019273"/>
          </a:xfrm>
        </p:grpSpPr>
        <p:sp>
          <p:nvSpPr>
            <p:cNvPr id="16" name="Shape 531">
              <a:extLst>
                <a:ext uri="{FF2B5EF4-FFF2-40B4-BE49-F238E27FC236}">
                  <a16:creationId xmlns:a16="http://schemas.microsoft.com/office/drawing/2014/main" id="{11F2D1D1-02C8-1C8E-C8C9-6776587DF1B9}"/>
                </a:ext>
              </a:extLst>
            </p:cNvPr>
            <p:cNvSpPr/>
            <p:nvPr/>
          </p:nvSpPr>
          <p:spPr>
            <a:xfrm>
              <a:off x="1755986" y="9287039"/>
              <a:ext cx="4405554" cy="12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>
              <a:spAutoFit/>
            </a:bodyPr>
            <a:lstStyle>
              <a:lvl1pPr>
                <a:spcBef>
                  <a:spcPts val="4500"/>
                </a:spcBef>
                <a:defRPr sz="4000" b="1">
                  <a:solidFill>
                    <a:srgbClr val="5E7484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 algn="ctr" defTabSz="914400" eaLnBrk="1" fontAlgn="auto" hangingPunct="1">
                <a:spcAft>
                  <a:spcPts val="0"/>
                </a:spcAft>
                <a:defRPr/>
              </a:pPr>
              <a:r>
                <a:rPr lang="es-AR" sz="1000" kern="0" baseline="0" dirty="0">
                  <a:solidFill>
                    <a:srgbClr val="58595B"/>
                  </a:solidFill>
                </a:rPr>
                <a:t>MEJORA LA EFICIENCIA DE IT</a:t>
              </a:r>
              <a:endParaRPr sz="1000" kern="0" baseline="0" dirty="0">
                <a:solidFill>
                  <a:srgbClr val="58595B"/>
                </a:solidFill>
              </a:endParaRPr>
            </a:p>
          </p:txBody>
        </p:sp>
        <p:grpSp>
          <p:nvGrpSpPr>
            <p:cNvPr id="17" name="Group 534">
              <a:extLst>
                <a:ext uri="{FF2B5EF4-FFF2-40B4-BE49-F238E27FC236}">
                  <a16:creationId xmlns:a16="http://schemas.microsoft.com/office/drawing/2014/main" id="{0589900D-BB5B-2A16-A822-C369D128F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5804" y="5843068"/>
              <a:ext cx="3312353" cy="3312352"/>
              <a:chOff x="-50800" y="-50800"/>
              <a:chExt cx="3312350" cy="3312350"/>
            </a:xfrm>
          </p:grpSpPr>
          <p:graphicFrame>
            <p:nvGraphicFramePr>
              <p:cNvPr id="33" name="Chart 532">
                <a:extLst>
                  <a:ext uri="{FF2B5EF4-FFF2-40B4-BE49-F238E27FC236}">
                    <a16:creationId xmlns:a16="http://schemas.microsoft.com/office/drawing/2014/main" id="{6EB57DF6-D207-8FC4-C1B3-F1A96752115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91540499"/>
                  </p:ext>
                </p:extLst>
              </p:nvPr>
            </p:nvGraphicFramePr>
            <p:xfrm>
              <a:off x="-50800" y="-50800"/>
              <a:ext cx="3312350" cy="3312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áfico" r:id="rId3" imgW="3316511" imgH="3322608" progId="Excel.Chart.8">
                      <p:embed/>
                    </p:oleObj>
                  </mc:Choice>
                  <mc:Fallback>
                    <p:oleObj name="Gráfico" r:id="rId3" imgW="3316511" imgH="3322608" progId="Excel.Chart.8">
                      <p:embed/>
                      <p:pic>
                        <p:nvPicPr>
                          <p:cNvPr id="31" name="Chart 532">
                            <a:extLst>
                              <a:ext uri="{FF2B5EF4-FFF2-40B4-BE49-F238E27FC236}">
                                <a16:creationId xmlns:a16="http://schemas.microsoft.com/office/drawing/2014/main" id="{FA570BF7-F9A0-E915-36AE-8FAF3ED31E9C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50800" y="-50800"/>
                            <a:ext cx="3312350" cy="3312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Shape 533">
                <a:extLst>
                  <a:ext uri="{FF2B5EF4-FFF2-40B4-BE49-F238E27FC236}">
                    <a16:creationId xmlns:a16="http://schemas.microsoft.com/office/drawing/2014/main" id="{F7557140-EE5B-B241-2BD3-42320419804B}"/>
                  </a:ext>
                </a:extLst>
              </p:cNvPr>
              <p:cNvSpPr/>
              <p:nvPr/>
            </p:nvSpPr>
            <p:spPr>
              <a:xfrm>
                <a:off x="320510" y="311202"/>
                <a:ext cx="2570301" cy="256900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lIns="50800" tIns="50800" rIns="50800" bIns="50800" anchor="ctr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200">
                    <a:solidFill>
                      <a:srgbClr val="FFFFFF"/>
                    </a:solidFill>
                  </a:defRPr>
                </a:pPr>
                <a:endParaRPr sz="1000" kern="0" baseline="0">
                  <a:solidFill>
                    <a:srgbClr val="58595B"/>
                  </a:solidFill>
                  <a:ea typeface="Fira Sans Medium"/>
                  <a:cs typeface="Fira Sans Medium"/>
                  <a:sym typeface="Fira Sans Medium"/>
                </a:endParaRPr>
              </a:p>
            </p:txBody>
          </p:sp>
        </p:grpSp>
        <p:sp>
          <p:nvSpPr>
            <p:cNvPr id="18" name="Shape 537">
              <a:extLst>
                <a:ext uri="{FF2B5EF4-FFF2-40B4-BE49-F238E27FC236}">
                  <a16:creationId xmlns:a16="http://schemas.microsoft.com/office/drawing/2014/main" id="{7D240E08-7A91-13B9-C368-310D7D7D8486}"/>
                </a:ext>
              </a:extLst>
            </p:cNvPr>
            <p:cNvSpPr/>
            <p:nvPr/>
          </p:nvSpPr>
          <p:spPr>
            <a:xfrm>
              <a:off x="7315715" y="9153215"/>
              <a:ext cx="4403964" cy="17091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>
              <a:spAutoFit/>
            </a:bodyPr>
            <a:lstStyle>
              <a:lvl1pPr>
                <a:spcBef>
                  <a:spcPts val="4500"/>
                </a:spcBef>
                <a:defRPr sz="4000" b="1">
                  <a:solidFill>
                    <a:srgbClr val="5E7484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 algn="ctr" defTabSz="914400" eaLnBrk="1" fontAlgn="auto" hangingPunct="1">
                <a:spcAft>
                  <a:spcPts val="0"/>
                </a:spcAft>
                <a:defRPr/>
              </a:pPr>
              <a:r>
                <a:rPr lang="es-AR" sz="1000" kern="0" baseline="0" dirty="0">
                  <a:solidFill>
                    <a:srgbClr val="58595B"/>
                  </a:solidFill>
                </a:rPr>
                <a:t>AUMENTA LA PRODUCTIVIDAD DEL USUARIO FINAL</a:t>
              </a:r>
              <a:endParaRPr sz="1000" kern="0" baseline="0" dirty="0">
                <a:solidFill>
                  <a:srgbClr val="58595B"/>
                </a:solidFill>
              </a:endParaRPr>
            </a:p>
          </p:txBody>
        </p:sp>
        <p:grpSp>
          <p:nvGrpSpPr>
            <p:cNvPr id="19" name="Group 540">
              <a:extLst>
                <a:ext uri="{FF2B5EF4-FFF2-40B4-BE49-F238E27FC236}">
                  <a16:creationId xmlns:a16="http://schemas.microsoft.com/office/drawing/2014/main" id="{879174AF-CB7B-5641-E71D-4A307062C5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7908" y="5893868"/>
              <a:ext cx="3210753" cy="3210752"/>
              <a:chOff x="0" y="0"/>
              <a:chExt cx="3210750" cy="3210750"/>
            </a:xfrm>
          </p:grpSpPr>
          <p:graphicFrame>
            <p:nvGraphicFramePr>
              <p:cNvPr id="31" name="Chart 538">
                <a:extLst>
                  <a:ext uri="{FF2B5EF4-FFF2-40B4-BE49-F238E27FC236}">
                    <a16:creationId xmlns:a16="http://schemas.microsoft.com/office/drawing/2014/main" id="{C13DD507-90C5-184B-A790-3E5D33CC6BD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50800" y="-50800"/>
              <a:ext cx="3312350" cy="3312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áfico" r:id="rId5" imgW="3322608" imgH="3322608" progId="Excel.Chart.8">
                      <p:embed/>
                    </p:oleObj>
                  </mc:Choice>
                  <mc:Fallback>
                    <p:oleObj name="Gráfico" r:id="rId5" imgW="3322608" imgH="3322608" progId="Excel.Chart.8">
                      <p:embed/>
                      <p:pic>
                        <p:nvPicPr>
                          <p:cNvPr id="29" name="Chart 538">
                            <a:extLst>
                              <a:ext uri="{FF2B5EF4-FFF2-40B4-BE49-F238E27FC236}">
                                <a16:creationId xmlns:a16="http://schemas.microsoft.com/office/drawing/2014/main" id="{04E1B9E2-3B11-0440-12DA-35B7684183EE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50800" y="-50800"/>
                            <a:ext cx="3312350" cy="3312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Shape 539">
                <a:extLst>
                  <a:ext uri="{FF2B5EF4-FFF2-40B4-BE49-F238E27FC236}">
                    <a16:creationId xmlns:a16="http://schemas.microsoft.com/office/drawing/2014/main" id="{1040CF88-FFF5-DD4B-3D08-816FDEC968FB}"/>
                  </a:ext>
                </a:extLst>
              </p:cNvPr>
              <p:cNvSpPr/>
              <p:nvPr/>
            </p:nvSpPr>
            <p:spPr>
              <a:xfrm>
                <a:off x="321454" y="311202"/>
                <a:ext cx="2568713" cy="256900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lIns="50800" tIns="50800" rIns="50800" bIns="50800" anchor="ctr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200">
                    <a:solidFill>
                      <a:srgbClr val="FFFFFF"/>
                    </a:solidFill>
                  </a:defRPr>
                </a:pPr>
                <a:endParaRPr sz="1000" kern="0" baseline="0">
                  <a:solidFill>
                    <a:srgbClr val="58595B"/>
                  </a:solidFill>
                  <a:ea typeface="Fira Sans Medium"/>
                  <a:cs typeface="Fira Sans Medium"/>
                  <a:sym typeface="Fira Sans Medium"/>
                </a:endParaRPr>
              </a:p>
            </p:txBody>
          </p:sp>
        </p:grpSp>
        <p:sp>
          <p:nvSpPr>
            <p:cNvPr id="20" name="Shape 543">
              <a:extLst>
                <a:ext uri="{FF2B5EF4-FFF2-40B4-BE49-F238E27FC236}">
                  <a16:creationId xmlns:a16="http://schemas.microsoft.com/office/drawing/2014/main" id="{EA10BE0C-89E2-B566-301D-E64DCAE0DF55}"/>
                </a:ext>
              </a:extLst>
            </p:cNvPr>
            <p:cNvSpPr/>
            <p:nvPr/>
          </p:nvSpPr>
          <p:spPr>
            <a:xfrm>
              <a:off x="12756379" y="9287036"/>
              <a:ext cx="4405555" cy="12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>
              <a:spAutoFit/>
            </a:bodyPr>
            <a:lstStyle>
              <a:lvl1pPr>
                <a:spcBef>
                  <a:spcPts val="4500"/>
                </a:spcBef>
                <a:defRPr sz="4000" b="1">
                  <a:solidFill>
                    <a:srgbClr val="5E7484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 algn="ctr" defTabSz="914400" eaLnBrk="1" fontAlgn="auto" hangingPunct="1">
                <a:spcAft>
                  <a:spcPts val="0"/>
                </a:spcAft>
                <a:defRPr/>
              </a:pPr>
              <a:r>
                <a:rPr lang="es-AR" sz="1000" kern="0" baseline="0" dirty="0">
                  <a:solidFill>
                    <a:srgbClr val="58595B"/>
                  </a:solidFill>
                </a:rPr>
                <a:t>REDUCE LOS COSTOS DE HW </a:t>
              </a:r>
              <a:endParaRPr sz="1000" kern="0" baseline="0" dirty="0">
                <a:solidFill>
                  <a:srgbClr val="58595B"/>
                </a:solidFill>
              </a:endParaRPr>
            </a:p>
          </p:txBody>
        </p:sp>
        <p:grpSp>
          <p:nvGrpSpPr>
            <p:cNvPr id="21" name="Group 546">
              <a:extLst>
                <a:ext uri="{FF2B5EF4-FFF2-40B4-BE49-F238E27FC236}">
                  <a16:creationId xmlns:a16="http://schemas.microsoft.com/office/drawing/2014/main" id="{E09F27F6-DBCE-8A07-0309-6B76190FFD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48413" y="5843069"/>
              <a:ext cx="3312353" cy="3312352"/>
              <a:chOff x="-50799" y="-50799"/>
              <a:chExt cx="3312350" cy="3312350"/>
            </a:xfrm>
          </p:grpSpPr>
          <p:graphicFrame>
            <p:nvGraphicFramePr>
              <p:cNvPr id="29" name="Chart 544">
                <a:extLst>
                  <a:ext uri="{FF2B5EF4-FFF2-40B4-BE49-F238E27FC236}">
                    <a16:creationId xmlns:a16="http://schemas.microsoft.com/office/drawing/2014/main" id="{EDC88FB8-2514-3535-3BE8-7AC238BBB9A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55196337"/>
                  </p:ext>
                </p:extLst>
              </p:nvPr>
            </p:nvGraphicFramePr>
            <p:xfrm>
              <a:off x="-50799" y="-50799"/>
              <a:ext cx="3312350" cy="3312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áfico" r:id="rId7" imgW="3316511" imgH="3322608" progId="Excel.Chart.8">
                      <p:embed/>
                    </p:oleObj>
                  </mc:Choice>
                  <mc:Fallback>
                    <p:oleObj name="Gráfico" r:id="rId7" imgW="3316511" imgH="3322608" progId="Excel.Chart.8">
                      <p:embed/>
                      <p:pic>
                        <p:nvPicPr>
                          <p:cNvPr id="27" name="Chart 544">
                            <a:extLst>
                              <a:ext uri="{FF2B5EF4-FFF2-40B4-BE49-F238E27FC236}">
                                <a16:creationId xmlns:a16="http://schemas.microsoft.com/office/drawing/2014/main" id="{CF8505C6-DA27-821E-DDD0-DB10DBEB1DE0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50799" y="-50799"/>
                            <a:ext cx="3312350" cy="3312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Shape 545">
                <a:extLst>
                  <a:ext uri="{FF2B5EF4-FFF2-40B4-BE49-F238E27FC236}">
                    <a16:creationId xmlns:a16="http://schemas.microsoft.com/office/drawing/2014/main" id="{DFC69225-C597-7A5C-1E68-F7BF2D0E3AE1}"/>
                  </a:ext>
                </a:extLst>
              </p:cNvPr>
              <p:cNvSpPr/>
              <p:nvPr/>
            </p:nvSpPr>
            <p:spPr>
              <a:xfrm>
                <a:off x="320812" y="311202"/>
                <a:ext cx="2568713" cy="256900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lIns="50800" tIns="50800" rIns="50800" bIns="50800" anchor="ctr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200">
                    <a:solidFill>
                      <a:srgbClr val="FFFFFF"/>
                    </a:solidFill>
                  </a:defRPr>
                </a:pPr>
                <a:endParaRPr sz="1000" kern="0" baseline="0">
                  <a:solidFill>
                    <a:srgbClr val="58595B"/>
                  </a:solidFill>
                  <a:ea typeface="Fira Sans Medium"/>
                  <a:cs typeface="Fira Sans Medium"/>
                  <a:sym typeface="Fira Sans Medium"/>
                </a:endParaRPr>
              </a:p>
            </p:txBody>
          </p:sp>
        </p:grpSp>
        <p:sp>
          <p:nvSpPr>
            <p:cNvPr id="22" name="Shape 549">
              <a:extLst>
                <a:ext uri="{FF2B5EF4-FFF2-40B4-BE49-F238E27FC236}">
                  <a16:creationId xmlns:a16="http://schemas.microsoft.com/office/drawing/2014/main" id="{FB7A6974-5FBE-C385-CDE9-986ED0D93485}"/>
                </a:ext>
              </a:extLst>
            </p:cNvPr>
            <p:cNvSpPr/>
            <p:nvPr/>
          </p:nvSpPr>
          <p:spPr>
            <a:xfrm>
              <a:off x="18314519" y="9053976"/>
              <a:ext cx="4405554" cy="17091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>
              <a:spAutoFit/>
            </a:bodyPr>
            <a:lstStyle>
              <a:lvl1pPr>
                <a:spcBef>
                  <a:spcPts val="4500"/>
                </a:spcBef>
                <a:defRPr sz="4000" b="1">
                  <a:solidFill>
                    <a:srgbClr val="5E7484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 algn="ctr" defTabSz="914400" eaLnBrk="1" fontAlgn="auto" hangingPunct="1">
                <a:spcAft>
                  <a:spcPts val="0"/>
                </a:spcAft>
                <a:defRPr/>
              </a:pPr>
              <a:r>
                <a:rPr lang="es-AR" sz="1000" kern="0" baseline="0" dirty="0">
                  <a:solidFill>
                    <a:srgbClr val="58595B"/>
                  </a:solidFill>
                </a:rPr>
                <a:t>ABORDA RIESGOS Y AMENAZAS DE SEGURIDAD</a:t>
              </a:r>
              <a:endParaRPr sz="1000" kern="0" baseline="0" dirty="0">
                <a:solidFill>
                  <a:srgbClr val="58595B"/>
                </a:solidFill>
              </a:endParaRPr>
            </a:p>
          </p:txBody>
        </p:sp>
        <p:grpSp>
          <p:nvGrpSpPr>
            <p:cNvPr id="23" name="Group 552">
              <a:extLst>
                <a:ext uri="{FF2B5EF4-FFF2-40B4-BE49-F238E27FC236}">
                  <a16:creationId xmlns:a16="http://schemas.microsoft.com/office/drawing/2014/main" id="{3A575529-C909-FDCA-5A15-A9E68F2C3A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40516" y="5893868"/>
              <a:ext cx="3210752" cy="3210751"/>
              <a:chOff x="0" y="0"/>
              <a:chExt cx="3210749" cy="3210749"/>
            </a:xfrm>
          </p:grpSpPr>
          <p:graphicFrame>
            <p:nvGraphicFramePr>
              <p:cNvPr id="27" name="Chart 550">
                <a:extLst>
                  <a:ext uri="{FF2B5EF4-FFF2-40B4-BE49-F238E27FC236}">
                    <a16:creationId xmlns:a16="http://schemas.microsoft.com/office/drawing/2014/main" id="{E33EE3C4-3523-17C8-A36B-A59679ACB24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50800" y="-50800"/>
              <a:ext cx="3312350" cy="3312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áfico" r:id="rId9" imgW="3316511" imgH="3322608" progId="Excel.Chart.8">
                      <p:embed/>
                    </p:oleObj>
                  </mc:Choice>
                  <mc:Fallback>
                    <p:oleObj name="Gráfico" r:id="rId9" imgW="3316511" imgH="3322608" progId="Excel.Chart.8">
                      <p:embed/>
                      <p:pic>
                        <p:nvPicPr>
                          <p:cNvPr id="25" name="Chart 550">
                            <a:extLst>
                              <a:ext uri="{FF2B5EF4-FFF2-40B4-BE49-F238E27FC236}">
                                <a16:creationId xmlns:a16="http://schemas.microsoft.com/office/drawing/2014/main" id="{82087EB0-DBA4-87E9-6101-4005FDC271F7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50800" y="-50800"/>
                            <a:ext cx="3312350" cy="3312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Shape 551">
                <a:extLst>
                  <a:ext uri="{FF2B5EF4-FFF2-40B4-BE49-F238E27FC236}">
                    <a16:creationId xmlns:a16="http://schemas.microsoft.com/office/drawing/2014/main" id="{38DE9303-EEBA-C9A8-A91D-23C840C2862D}"/>
                  </a:ext>
                </a:extLst>
              </p:cNvPr>
              <p:cNvSpPr/>
              <p:nvPr/>
            </p:nvSpPr>
            <p:spPr>
              <a:xfrm>
                <a:off x="320168" y="311202"/>
                <a:ext cx="2570301" cy="256900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lIns="50800" tIns="50800" rIns="50800" bIns="50800" anchor="ctr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200">
                    <a:solidFill>
                      <a:srgbClr val="FFFFFF"/>
                    </a:solidFill>
                  </a:defRPr>
                </a:pPr>
                <a:endParaRPr sz="1000" kern="0" baseline="0">
                  <a:solidFill>
                    <a:srgbClr val="58595B"/>
                  </a:solidFill>
                  <a:ea typeface="Fira Sans Medium"/>
                  <a:cs typeface="Fira Sans Medium"/>
                  <a:sym typeface="Fira Sans Medium"/>
                </a:endParaRPr>
              </a:p>
            </p:txBody>
          </p:sp>
        </p:grpSp>
        <p:sp>
          <p:nvSpPr>
            <p:cNvPr id="24" name="Shape 556">
              <a:extLst>
                <a:ext uri="{FF2B5EF4-FFF2-40B4-BE49-F238E27FC236}">
                  <a16:creationId xmlns:a16="http://schemas.microsoft.com/office/drawing/2014/main" id="{FE95A05B-261C-3DD8-B24C-7C484E027EDD}"/>
                </a:ext>
              </a:extLst>
            </p:cNvPr>
            <p:cNvSpPr/>
            <p:nvPr/>
          </p:nvSpPr>
          <p:spPr>
            <a:xfrm>
              <a:off x="3475343" y="6765552"/>
              <a:ext cx="1092260" cy="1263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97" y="0"/>
                  </a:moveTo>
                  <a:lnTo>
                    <a:pt x="7103" y="0"/>
                  </a:lnTo>
                  <a:lnTo>
                    <a:pt x="7103" y="1998"/>
                  </a:lnTo>
                  <a:lnTo>
                    <a:pt x="14497" y="1998"/>
                  </a:lnTo>
                  <a:lnTo>
                    <a:pt x="14497" y="0"/>
                  </a:lnTo>
                  <a:close/>
                  <a:moveTo>
                    <a:pt x="9664" y="13484"/>
                  </a:moveTo>
                  <a:lnTo>
                    <a:pt x="11936" y="13484"/>
                  </a:lnTo>
                  <a:lnTo>
                    <a:pt x="11936" y="7117"/>
                  </a:lnTo>
                  <a:lnTo>
                    <a:pt x="9664" y="7117"/>
                  </a:lnTo>
                  <a:lnTo>
                    <a:pt x="9664" y="13484"/>
                  </a:lnTo>
                  <a:close/>
                  <a:moveTo>
                    <a:pt x="19087" y="6534"/>
                  </a:moveTo>
                  <a:lnTo>
                    <a:pt x="20923" y="5161"/>
                  </a:lnTo>
                  <a:cubicBezTo>
                    <a:pt x="20440" y="4578"/>
                    <a:pt x="19764" y="4162"/>
                    <a:pt x="19087" y="3579"/>
                  </a:cubicBezTo>
                  <a:lnTo>
                    <a:pt x="17444" y="5161"/>
                  </a:lnTo>
                  <a:cubicBezTo>
                    <a:pt x="15608" y="3746"/>
                    <a:pt x="13337" y="2955"/>
                    <a:pt x="10776" y="2955"/>
                  </a:cubicBezTo>
                  <a:cubicBezTo>
                    <a:pt x="4832" y="2955"/>
                    <a:pt x="0" y="7034"/>
                    <a:pt x="0" y="12277"/>
                  </a:cubicBezTo>
                  <a:cubicBezTo>
                    <a:pt x="0" y="17521"/>
                    <a:pt x="4832" y="21600"/>
                    <a:pt x="10776" y="21600"/>
                  </a:cubicBezTo>
                  <a:cubicBezTo>
                    <a:pt x="16768" y="21600"/>
                    <a:pt x="21600" y="17646"/>
                    <a:pt x="21600" y="12277"/>
                  </a:cubicBezTo>
                  <a:cubicBezTo>
                    <a:pt x="21600" y="10113"/>
                    <a:pt x="20682" y="8116"/>
                    <a:pt x="19087" y="6534"/>
                  </a:cubicBezTo>
                  <a:close/>
                  <a:moveTo>
                    <a:pt x="10776" y="19602"/>
                  </a:moveTo>
                  <a:cubicBezTo>
                    <a:pt x="5944" y="19602"/>
                    <a:pt x="2271" y="16356"/>
                    <a:pt x="2271" y="12277"/>
                  </a:cubicBezTo>
                  <a:cubicBezTo>
                    <a:pt x="2271" y="8240"/>
                    <a:pt x="6089" y="5161"/>
                    <a:pt x="10776" y="5161"/>
                  </a:cubicBezTo>
                  <a:cubicBezTo>
                    <a:pt x="15511" y="5161"/>
                    <a:pt x="19087" y="8240"/>
                    <a:pt x="19087" y="12277"/>
                  </a:cubicBezTo>
                  <a:cubicBezTo>
                    <a:pt x="19087" y="16356"/>
                    <a:pt x="15415" y="19602"/>
                    <a:pt x="10776" y="19602"/>
                  </a:cubicBezTo>
                  <a:close/>
                </a:path>
              </a:pathLst>
            </a:custGeom>
            <a:solidFill>
              <a:srgbClr val="58595B"/>
            </a:solidFill>
            <a:ln w="12700">
              <a:miter lim="400000"/>
            </a:ln>
          </p:spPr>
          <p:txBody>
            <a:bodyPr lIns="45720" rIns="45720" anchor="ctr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 sz="1800"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sz="1000" kern="0" baseline="0" dirty="0">
                <a:solidFill>
                  <a:srgbClr val="58595B"/>
                </a:solidFill>
                <a:ea typeface="Roboto Regular"/>
                <a:cs typeface="Roboto Regular"/>
                <a:sym typeface="Roboto Regular"/>
              </a:endParaRPr>
            </a:p>
          </p:txBody>
        </p:sp>
        <p:sp>
          <p:nvSpPr>
            <p:cNvPr id="25" name="Shape 557">
              <a:extLst>
                <a:ext uri="{FF2B5EF4-FFF2-40B4-BE49-F238E27FC236}">
                  <a16:creationId xmlns:a16="http://schemas.microsoft.com/office/drawing/2014/main" id="{763E5E88-C632-5E33-BC8C-C11B9833A630}"/>
                </a:ext>
              </a:extLst>
            </p:cNvPr>
            <p:cNvSpPr/>
            <p:nvPr/>
          </p:nvSpPr>
          <p:spPr>
            <a:xfrm>
              <a:off x="8974745" y="6798896"/>
              <a:ext cx="970015" cy="1213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64" y="6055"/>
                  </a:moveTo>
                  <a:lnTo>
                    <a:pt x="15464" y="10145"/>
                  </a:lnTo>
                  <a:lnTo>
                    <a:pt x="17243" y="10145"/>
                  </a:lnTo>
                  <a:lnTo>
                    <a:pt x="17243" y="12068"/>
                  </a:lnTo>
                  <a:lnTo>
                    <a:pt x="12580" y="12068"/>
                  </a:lnTo>
                  <a:lnTo>
                    <a:pt x="12580" y="4091"/>
                  </a:lnTo>
                  <a:lnTo>
                    <a:pt x="15464" y="4091"/>
                  </a:lnTo>
                  <a:lnTo>
                    <a:pt x="11107" y="0"/>
                  </a:lnTo>
                  <a:lnTo>
                    <a:pt x="6443" y="4091"/>
                  </a:lnTo>
                  <a:lnTo>
                    <a:pt x="9634" y="4091"/>
                  </a:lnTo>
                  <a:lnTo>
                    <a:pt x="9634" y="12068"/>
                  </a:lnTo>
                  <a:lnTo>
                    <a:pt x="4970" y="12068"/>
                  </a:lnTo>
                  <a:lnTo>
                    <a:pt x="4970" y="9941"/>
                  </a:lnTo>
                  <a:cubicBezTo>
                    <a:pt x="6136" y="9736"/>
                    <a:pt x="6750" y="8959"/>
                    <a:pt x="6750" y="7977"/>
                  </a:cubicBezTo>
                  <a:cubicBezTo>
                    <a:pt x="6750" y="6832"/>
                    <a:pt x="5400" y="5850"/>
                    <a:pt x="3498" y="5850"/>
                  </a:cubicBezTo>
                  <a:cubicBezTo>
                    <a:pt x="1595" y="5850"/>
                    <a:pt x="0" y="6832"/>
                    <a:pt x="0" y="7977"/>
                  </a:cubicBezTo>
                  <a:cubicBezTo>
                    <a:pt x="0" y="8959"/>
                    <a:pt x="859" y="9736"/>
                    <a:pt x="1780" y="9941"/>
                  </a:cubicBezTo>
                  <a:lnTo>
                    <a:pt x="1780" y="12068"/>
                  </a:lnTo>
                  <a:cubicBezTo>
                    <a:pt x="1780" y="13255"/>
                    <a:pt x="3191" y="14236"/>
                    <a:pt x="4970" y="14236"/>
                  </a:cubicBezTo>
                  <a:lnTo>
                    <a:pt x="9634" y="14236"/>
                  </a:lnTo>
                  <a:lnTo>
                    <a:pt x="9634" y="17345"/>
                  </a:lnTo>
                  <a:cubicBezTo>
                    <a:pt x="8468" y="17714"/>
                    <a:pt x="7609" y="18491"/>
                    <a:pt x="7609" y="19268"/>
                  </a:cubicBezTo>
                  <a:cubicBezTo>
                    <a:pt x="7609" y="20455"/>
                    <a:pt x="9327" y="21600"/>
                    <a:pt x="11107" y="21600"/>
                  </a:cubicBezTo>
                  <a:cubicBezTo>
                    <a:pt x="12886" y="21600"/>
                    <a:pt x="14298" y="20455"/>
                    <a:pt x="14298" y="19268"/>
                  </a:cubicBezTo>
                  <a:cubicBezTo>
                    <a:pt x="14298" y="18286"/>
                    <a:pt x="13745" y="17714"/>
                    <a:pt x="12580" y="17345"/>
                  </a:cubicBezTo>
                  <a:lnTo>
                    <a:pt x="12580" y="14236"/>
                  </a:lnTo>
                  <a:lnTo>
                    <a:pt x="17243" y="14236"/>
                  </a:lnTo>
                  <a:cubicBezTo>
                    <a:pt x="18716" y="14236"/>
                    <a:pt x="20189" y="13255"/>
                    <a:pt x="20189" y="12068"/>
                  </a:cubicBezTo>
                  <a:lnTo>
                    <a:pt x="20189" y="10145"/>
                  </a:lnTo>
                  <a:lnTo>
                    <a:pt x="21600" y="10145"/>
                  </a:lnTo>
                  <a:lnTo>
                    <a:pt x="21600" y="6055"/>
                  </a:lnTo>
                  <a:lnTo>
                    <a:pt x="15464" y="6055"/>
                  </a:lnTo>
                </a:path>
              </a:pathLst>
            </a:custGeom>
            <a:solidFill>
              <a:srgbClr val="58595B"/>
            </a:solidFill>
            <a:ln w="12700">
              <a:miter lim="400000"/>
            </a:ln>
          </p:spPr>
          <p:txBody>
            <a:bodyPr lIns="45720" rIns="45720" anchor="ctr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 sz="1800"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sz="1000" kern="0" baseline="0" dirty="0">
                <a:solidFill>
                  <a:srgbClr val="58595B"/>
                </a:solidFill>
                <a:ea typeface="Roboto Regular"/>
                <a:cs typeface="Roboto Regular"/>
                <a:sym typeface="Roboto Regular"/>
              </a:endParaRPr>
            </a:p>
          </p:txBody>
        </p:sp>
        <p:sp>
          <p:nvSpPr>
            <p:cNvPr id="26" name="Shape 559">
              <a:extLst>
                <a:ext uri="{FF2B5EF4-FFF2-40B4-BE49-F238E27FC236}">
                  <a16:creationId xmlns:a16="http://schemas.microsoft.com/office/drawing/2014/main" id="{96A52595-29A4-BD99-4FC1-60B355CF40CC}"/>
                </a:ext>
              </a:extLst>
            </p:cNvPr>
            <p:cNvSpPr/>
            <p:nvPr/>
          </p:nvSpPr>
          <p:spPr>
            <a:xfrm>
              <a:off x="14347139" y="6933856"/>
              <a:ext cx="1192277" cy="1041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91" y="7336"/>
                  </a:moveTo>
                  <a:lnTo>
                    <a:pt x="7109" y="7336"/>
                  </a:lnTo>
                  <a:lnTo>
                    <a:pt x="7109" y="14491"/>
                  </a:lnTo>
                  <a:lnTo>
                    <a:pt x="14491" y="14491"/>
                  </a:lnTo>
                  <a:lnTo>
                    <a:pt x="14491" y="7336"/>
                  </a:lnTo>
                  <a:close/>
                  <a:moveTo>
                    <a:pt x="11955" y="12181"/>
                  </a:moveTo>
                  <a:lnTo>
                    <a:pt x="9645" y="12181"/>
                  </a:lnTo>
                  <a:lnTo>
                    <a:pt x="9645" y="9645"/>
                  </a:lnTo>
                  <a:lnTo>
                    <a:pt x="11955" y="9645"/>
                  </a:lnTo>
                  <a:lnTo>
                    <a:pt x="11955" y="12181"/>
                  </a:lnTo>
                  <a:close/>
                  <a:moveTo>
                    <a:pt x="21600" y="9645"/>
                  </a:moveTo>
                  <a:lnTo>
                    <a:pt x="21600" y="7336"/>
                  </a:lnTo>
                  <a:lnTo>
                    <a:pt x="19336" y="7336"/>
                  </a:lnTo>
                  <a:lnTo>
                    <a:pt x="19336" y="4845"/>
                  </a:lnTo>
                  <a:cubicBezTo>
                    <a:pt x="19336" y="3668"/>
                    <a:pt x="18158" y="2536"/>
                    <a:pt x="16800" y="2536"/>
                  </a:cubicBezTo>
                  <a:lnTo>
                    <a:pt x="14491" y="2536"/>
                  </a:lnTo>
                  <a:lnTo>
                    <a:pt x="14491" y="0"/>
                  </a:lnTo>
                  <a:lnTo>
                    <a:pt x="11955" y="0"/>
                  </a:lnTo>
                  <a:lnTo>
                    <a:pt x="11955" y="2536"/>
                  </a:lnTo>
                  <a:lnTo>
                    <a:pt x="9645" y="2536"/>
                  </a:lnTo>
                  <a:lnTo>
                    <a:pt x="9645" y="0"/>
                  </a:lnTo>
                  <a:lnTo>
                    <a:pt x="7109" y="0"/>
                  </a:lnTo>
                  <a:lnTo>
                    <a:pt x="7109" y="2536"/>
                  </a:lnTo>
                  <a:lnTo>
                    <a:pt x="4845" y="2536"/>
                  </a:lnTo>
                  <a:cubicBezTo>
                    <a:pt x="3442" y="2536"/>
                    <a:pt x="2309" y="3668"/>
                    <a:pt x="2309" y="4845"/>
                  </a:cubicBezTo>
                  <a:lnTo>
                    <a:pt x="2309" y="7336"/>
                  </a:lnTo>
                  <a:lnTo>
                    <a:pt x="0" y="7336"/>
                  </a:lnTo>
                  <a:lnTo>
                    <a:pt x="0" y="9645"/>
                  </a:lnTo>
                  <a:lnTo>
                    <a:pt x="2309" y="9645"/>
                  </a:lnTo>
                  <a:lnTo>
                    <a:pt x="2309" y="12181"/>
                  </a:lnTo>
                  <a:lnTo>
                    <a:pt x="0" y="12181"/>
                  </a:lnTo>
                  <a:lnTo>
                    <a:pt x="0" y="14491"/>
                  </a:lnTo>
                  <a:lnTo>
                    <a:pt x="2309" y="14491"/>
                  </a:lnTo>
                  <a:lnTo>
                    <a:pt x="2309" y="17026"/>
                  </a:lnTo>
                  <a:cubicBezTo>
                    <a:pt x="2309" y="18158"/>
                    <a:pt x="3442" y="19336"/>
                    <a:pt x="4845" y="19336"/>
                  </a:cubicBezTo>
                  <a:lnTo>
                    <a:pt x="7109" y="19336"/>
                  </a:lnTo>
                  <a:lnTo>
                    <a:pt x="7109" y="21600"/>
                  </a:lnTo>
                  <a:lnTo>
                    <a:pt x="9645" y="21600"/>
                  </a:lnTo>
                  <a:lnTo>
                    <a:pt x="9645" y="19336"/>
                  </a:lnTo>
                  <a:lnTo>
                    <a:pt x="11955" y="19336"/>
                  </a:lnTo>
                  <a:lnTo>
                    <a:pt x="11955" y="21600"/>
                  </a:lnTo>
                  <a:lnTo>
                    <a:pt x="14491" y="21600"/>
                  </a:lnTo>
                  <a:lnTo>
                    <a:pt x="14491" y="19336"/>
                  </a:lnTo>
                  <a:lnTo>
                    <a:pt x="16800" y="19336"/>
                  </a:lnTo>
                  <a:cubicBezTo>
                    <a:pt x="18158" y="19336"/>
                    <a:pt x="19336" y="18158"/>
                    <a:pt x="19336" y="17026"/>
                  </a:cubicBezTo>
                  <a:lnTo>
                    <a:pt x="19336" y="14491"/>
                  </a:lnTo>
                  <a:lnTo>
                    <a:pt x="21600" y="14491"/>
                  </a:lnTo>
                  <a:lnTo>
                    <a:pt x="21600" y="12181"/>
                  </a:lnTo>
                  <a:lnTo>
                    <a:pt x="19336" y="12181"/>
                  </a:lnTo>
                  <a:lnTo>
                    <a:pt x="19336" y="9645"/>
                  </a:lnTo>
                  <a:lnTo>
                    <a:pt x="21600" y="9645"/>
                  </a:lnTo>
                  <a:close/>
                  <a:moveTo>
                    <a:pt x="16800" y="17026"/>
                  </a:moveTo>
                  <a:lnTo>
                    <a:pt x="4845" y="17026"/>
                  </a:lnTo>
                  <a:lnTo>
                    <a:pt x="4845" y="4845"/>
                  </a:lnTo>
                  <a:lnTo>
                    <a:pt x="16800" y="4845"/>
                  </a:lnTo>
                  <a:lnTo>
                    <a:pt x="16800" y="17026"/>
                  </a:lnTo>
                  <a:close/>
                </a:path>
              </a:pathLst>
            </a:custGeom>
            <a:solidFill>
              <a:srgbClr val="58595B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miter lim="400000"/>
            </a:ln>
          </p:spPr>
          <p:txBody>
            <a:bodyPr lIns="45720" rIns="45720" anchor="ctr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 sz="1800"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sz="1000" kern="0" baseline="0" dirty="0">
                <a:solidFill>
                  <a:srgbClr val="58595B"/>
                </a:solidFill>
                <a:ea typeface="Roboto Regular"/>
                <a:cs typeface="Roboto Regular"/>
                <a:sym typeface="Roboto Regular"/>
              </a:endParaRPr>
            </a:p>
          </p:txBody>
        </p:sp>
      </p:grpSp>
      <p:pic>
        <p:nvPicPr>
          <p:cNvPr id="35" name="Imagen 118">
            <a:extLst>
              <a:ext uri="{FF2B5EF4-FFF2-40B4-BE49-F238E27FC236}">
                <a16:creationId xmlns:a16="http://schemas.microsoft.com/office/drawing/2014/main" id="{32370CFD-0A3D-9D41-7B9D-6E7B25CD17B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310" y="2851289"/>
            <a:ext cx="372563" cy="36956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28">
            <a:extLst>
              <a:ext uri="{FF2B5EF4-FFF2-40B4-BE49-F238E27FC236}">
                <a16:creationId xmlns:a16="http://schemas.microsoft.com/office/drawing/2014/main" id="{59938FF3-9640-1A01-764B-1A6B1B6708E3}"/>
              </a:ext>
            </a:extLst>
          </p:cNvPr>
          <p:cNvSpPr txBox="1"/>
          <p:nvPr/>
        </p:nvSpPr>
        <p:spPr>
          <a:xfrm>
            <a:off x="942240" y="4255220"/>
            <a:ext cx="163834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Contar con el inventario de HW y SW sobre el rendimiento de cada dispositivo, mejora la planificación en IT, las actualizaciones y los servicios. </a:t>
            </a: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DC873FEB-B0E9-2E47-CEE1-E71898133FC8}"/>
              </a:ext>
            </a:extLst>
          </p:cNvPr>
          <p:cNvSpPr txBox="1"/>
          <p:nvPr/>
        </p:nvSpPr>
        <p:spPr>
          <a:xfrm>
            <a:off x="2809678" y="4255220"/>
            <a:ext cx="1638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La información predictiva sobre las necesidades de sustitución de unidades de disco, estado de batería, errores de SW, ayuda a tomar medidas correctivas.</a:t>
            </a: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7373EBF2-33AB-DCB7-1B35-5EEF07EE9126}"/>
              </a:ext>
            </a:extLst>
          </p:cNvPr>
          <p:cNvSpPr txBox="1"/>
          <p:nvPr/>
        </p:nvSpPr>
        <p:spPr>
          <a:xfrm>
            <a:off x="4656489" y="4255220"/>
            <a:ext cx="1678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La renta de equipos conforme a la necesidad del presupuesto y la estructura del personal brinda mayor previsión de costos y control de gastos por fallas o rotura de hardware.</a:t>
            </a: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07CA2552-510B-9EA6-7182-232B581D558E}"/>
              </a:ext>
            </a:extLst>
          </p:cNvPr>
          <p:cNvSpPr txBox="1"/>
          <p:nvPr/>
        </p:nvSpPr>
        <p:spPr>
          <a:xfrm>
            <a:off x="6543376" y="4255220"/>
            <a:ext cx="1678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Informes sobre estado del antivirus, la gestión de incidencias ayudan a abordar proactivamente la amenazas.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F119C67-C0C5-5D21-D6C3-09FC5F0C68E5}"/>
              </a:ext>
            </a:extLst>
          </p:cNvPr>
          <p:cNvSpPr txBox="1"/>
          <p:nvPr/>
        </p:nvSpPr>
        <p:spPr>
          <a:xfrm>
            <a:off x="7996859" y="2125866"/>
            <a:ext cx="112445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 – negrita – mayúscula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10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8A3A2564-52C1-67C8-F948-77EA4BAB134C}"/>
              </a:ext>
            </a:extLst>
          </p:cNvPr>
          <p:cNvCxnSpPr>
            <a:cxnSpLocks/>
          </p:cNvCxnSpPr>
          <p:nvPr/>
        </p:nvCxnSpPr>
        <p:spPr>
          <a:xfrm flipH="1">
            <a:off x="7773721" y="1017324"/>
            <a:ext cx="112907" cy="49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1A20463-5487-E5CE-05CE-080C9631270B}"/>
              </a:ext>
            </a:extLst>
          </p:cNvPr>
          <p:cNvSpPr txBox="1"/>
          <p:nvPr/>
        </p:nvSpPr>
        <p:spPr>
          <a:xfrm>
            <a:off x="-7929" y="2089190"/>
            <a:ext cx="1491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200" dirty="0">
                <a:solidFill>
                  <a:srgbClr val="58595B"/>
                </a:solidFill>
              </a:rPr>
              <a:t>Iconos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340599CE-05C2-3C5D-A896-2404799B41E3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737796" y="2366189"/>
            <a:ext cx="851579" cy="485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D25A5C8-7365-9810-3679-AB3DC4700ED4}"/>
              </a:ext>
            </a:extLst>
          </p:cNvPr>
          <p:cNvSpPr txBox="1"/>
          <p:nvPr/>
        </p:nvSpPr>
        <p:spPr>
          <a:xfrm>
            <a:off x="471298" y="5471102"/>
            <a:ext cx="1870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Source Sans Pro (Cuerpo) </a:t>
            </a:r>
          </a:p>
          <a:p>
            <a:r>
              <a:rPr lang="es-AR" sz="1200" dirty="0">
                <a:solidFill>
                  <a:srgbClr val="58595B"/>
                </a:solidFill>
              </a:rPr>
              <a:t>Tamaño: 9</a:t>
            </a:r>
          </a:p>
          <a:p>
            <a:r>
              <a:rPr lang="es-AR" sz="1200" dirty="0">
                <a:solidFill>
                  <a:srgbClr val="58595B"/>
                </a:solidFill>
              </a:rPr>
              <a:t>Texto justificado 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89EB5683-ACE4-FF9A-C226-3DFC4AA9A06D}"/>
              </a:ext>
            </a:extLst>
          </p:cNvPr>
          <p:cNvCxnSpPr>
            <a:cxnSpLocks/>
          </p:cNvCxnSpPr>
          <p:nvPr/>
        </p:nvCxnSpPr>
        <p:spPr>
          <a:xfrm flipV="1">
            <a:off x="1193601" y="5078546"/>
            <a:ext cx="118071" cy="418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3679403-821E-6618-ACE0-38A24105F44A}"/>
              </a:ext>
            </a:extLst>
          </p:cNvPr>
          <p:cNvSpPr txBox="1"/>
          <p:nvPr/>
        </p:nvSpPr>
        <p:spPr>
          <a:xfrm>
            <a:off x="1160643" y="526020"/>
            <a:ext cx="187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Montserrat (Titulo)</a:t>
            </a:r>
          </a:p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Tamaño: 30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53AE4B2B-BD6D-0430-9DF1-6F282011F7E2}"/>
              </a:ext>
            </a:extLst>
          </p:cNvPr>
          <p:cNvCxnSpPr>
            <a:cxnSpLocks/>
          </p:cNvCxnSpPr>
          <p:nvPr/>
        </p:nvCxnSpPr>
        <p:spPr>
          <a:xfrm>
            <a:off x="3012211" y="745171"/>
            <a:ext cx="803789" cy="62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05E6439-BDD3-24EB-A992-DDDA49052FEB}"/>
              </a:ext>
            </a:extLst>
          </p:cNvPr>
          <p:cNvSpPr txBox="1"/>
          <p:nvPr/>
        </p:nvSpPr>
        <p:spPr>
          <a:xfrm>
            <a:off x="7508870" y="436796"/>
            <a:ext cx="1491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10, 5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2609E15-0F60-19E4-1CBF-E75C265FED06}"/>
              </a:ext>
            </a:extLst>
          </p:cNvPr>
          <p:cNvCxnSpPr>
            <a:cxnSpLocks/>
          </p:cNvCxnSpPr>
          <p:nvPr/>
        </p:nvCxnSpPr>
        <p:spPr>
          <a:xfrm flipH="1">
            <a:off x="8008558" y="3027007"/>
            <a:ext cx="112907" cy="49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96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build="p"/>
      <p:bldP spid="36" grpId="0"/>
      <p:bldP spid="37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64B8546-75F2-699E-791B-8164D18EA458}"/>
              </a:ext>
            </a:extLst>
          </p:cNvPr>
          <p:cNvSpPr txBox="1">
            <a:spLocks/>
          </p:cNvSpPr>
          <p:nvPr/>
        </p:nvSpPr>
        <p:spPr>
          <a:xfrm>
            <a:off x="1406387" y="340986"/>
            <a:ext cx="6331226" cy="736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sz="3000" dirty="0">
                <a:solidFill>
                  <a:srgbClr val="58595B"/>
                </a:solidFill>
              </a:rPr>
              <a:t>Soluciones de Digitalización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7B5131-12CE-57BF-96A8-9FD92930493C}"/>
              </a:ext>
            </a:extLst>
          </p:cNvPr>
          <p:cNvGrpSpPr/>
          <p:nvPr/>
        </p:nvGrpSpPr>
        <p:grpSpPr>
          <a:xfrm>
            <a:off x="3627000" y="1077586"/>
            <a:ext cx="1890000" cy="34289"/>
            <a:chOff x="4331115" y="3903804"/>
            <a:chExt cx="3529771" cy="45719"/>
          </a:xfrm>
        </p:grpSpPr>
        <p:sp>
          <p:nvSpPr>
            <p:cNvPr id="4" name="Rounded Rectangle 18">
              <a:extLst>
                <a:ext uri="{FF2B5EF4-FFF2-40B4-BE49-F238E27FC236}">
                  <a16:creationId xmlns:a16="http://schemas.microsoft.com/office/drawing/2014/main" id="{12A6A7F2-0253-1229-A0F4-6628153C7B20}"/>
                </a:ext>
              </a:extLst>
            </p:cNvPr>
            <p:cNvSpPr/>
            <p:nvPr/>
          </p:nvSpPr>
          <p:spPr>
            <a:xfrm>
              <a:off x="4331115" y="3903804"/>
              <a:ext cx="705954" cy="45719"/>
            </a:xfrm>
            <a:prstGeom prst="rect">
              <a:avLst/>
            </a:prstGeom>
            <a:solidFill>
              <a:srgbClr val="66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5" name="Rounded Rectangle 18">
              <a:extLst>
                <a:ext uri="{FF2B5EF4-FFF2-40B4-BE49-F238E27FC236}">
                  <a16:creationId xmlns:a16="http://schemas.microsoft.com/office/drawing/2014/main" id="{6E5A3007-7F0A-0F25-0387-8F80FC7F9130}"/>
                </a:ext>
              </a:extLst>
            </p:cNvPr>
            <p:cNvSpPr/>
            <p:nvPr/>
          </p:nvSpPr>
          <p:spPr>
            <a:xfrm>
              <a:off x="5037069" y="3903804"/>
              <a:ext cx="705954" cy="45719"/>
            </a:xfrm>
            <a:prstGeom prst="rect">
              <a:avLst/>
            </a:prstGeom>
            <a:solidFill>
              <a:srgbClr val="E3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6" name="Rounded Rectangle 18">
              <a:extLst>
                <a:ext uri="{FF2B5EF4-FFF2-40B4-BE49-F238E27FC236}">
                  <a16:creationId xmlns:a16="http://schemas.microsoft.com/office/drawing/2014/main" id="{F31A704C-66C7-DC99-41B7-DB56734322D7}"/>
                </a:ext>
              </a:extLst>
            </p:cNvPr>
            <p:cNvSpPr/>
            <p:nvPr/>
          </p:nvSpPr>
          <p:spPr>
            <a:xfrm>
              <a:off x="5743023" y="3903804"/>
              <a:ext cx="705954" cy="45719"/>
            </a:xfrm>
            <a:prstGeom prst="rect">
              <a:avLst/>
            </a:prstGeom>
            <a:solidFill>
              <a:srgbClr val="F79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7" name="Rounded Rectangle 18">
              <a:extLst>
                <a:ext uri="{FF2B5EF4-FFF2-40B4-BE49-F238E27FC236}">
                  <a16:creationId xmlns:a16="http://schemas.microsoft.com/office/drawing/2014/main" id="{31303237-B058-10D4-23A5-8850ED92DA9D}"/>
                </a:ext>
              </a:extLst>
            </p:cNvPr>
            <p:cNvSpPr/>
            <p:nvPr/>
          </p:nvSpPr>
          <p:spPr>
            <a:xfrm>
              <a:off x="6448978" y="3903804"/>
              <a:ext cx="705954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8" name="Rounded Rectangle 18">
              <a:extLst>
                <a:ext uri="{FF2B5EF4-FFF2-40B4-BE49-F238E27FC236}">
                  <a16:creationId xmlns:a16="http://schemas.microsoft.com/office/drawing/2014/main" id="{51003F04-D8C7-1535-0C3D-63E0024AA4A6}"/>
                </a:ext>
              </a:extLst>
            </p:cNvPr>
            <p:cNvSpPr/>
            <p:nvPr/>
          </p:nvSpPr>
          <p:spPr>
            <a:xfrm>
              <a:off x="7154932" y="3903804"/>
              <a:ext cx="705954" cy="45719"/>
            </a:xfrm>
            <a:prstGeom prst="rect">
              <a:avLst/>
            </a:prstGeom>
            <a:solidFill>
              <a:srgbClr val="47B1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</p:grpSp>
      <p:pic>
        <p:nvPicPr>
          <p:cNvPr id="43" name="Imagen 42">
            <a:extLst>
              <a:ext uri="{FF2B5EF4-FFF2-40B4-BE49-F238E27FC236}">
                <a16:creationId xmlns:a16="http://schemas.microsoft.com/office/drawing/2014/main" id="{AAF1FFAB-BDE6-5EB4-43AE-8F1322BD37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5" t="38499" r="19717" b="36839"/>
          <a:stretch/>
        </p:blipFill>
        <p:spPr>
          <a:xfrm>
            <a:off x="6774704" y="6274279"/>
            <a:ext cx="2218228" cy="444740"/>
          </a:xfrm>
          <a:prstGeom prst="rect">
            <a:avLst/>
          </a:prstGeom>
        </p:spPr>
      </p:pic>
      <p:sp>
        <p:nvSpPr>
          <p:cNvPr id="50" name="Elipse 49">
            <a:extLst>
              <a:ext uri="{FF2B5EF4-FFF2-40B4-BE49-F238E27FC236}">
                <a16:creationId xmlns:a16="http://schemas.microsoft.com/office/drawing/2014/main" id="{D9BB4491-8F8A-77A5-55CA-2AC8B6EA0A39}"/>
              </a:ext>
            </a:extLst>
          </p:cNvPr>
          <p:cNvSpPr/>
          <p:nvPr/>
        </p:nvSpPr>
        <p:spPr>
          <a:xfrm>
            <a:off x="646079" y="2693039"/>
            <a:ext cx="861134" cy="833280"/>
          </a:xfrm>
          <a:prstGeom prst="ellipse">
            <a:avLst/>
          </a:prstGeom>
          <a:solidFill>
            <a:srgbClr val="E32D9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/>
          </a:p>
        </p:txBody>
      </p:sp>
      <p:sp>
        <p:nvSpPr>
          <p:cNvPr id="51" name="TextBox 137">
            <a:extLst>
              <a:ext uri="{FF2B5EF4-FFF2-40B4-BE49-F238E27FC236}">
                <a16:creationId xmlns:a16="http://schemas.microsoft.com/office/drawing/2014/main" id="{3307124F-0E41-F965-507A-FF9030C0A881}"/>
              </a:ext>
            </a:extLst>
          </p:cNvPr>
          <p:cNvSpPr txBox="1"/>
          <p:nvPr/>
        </p:nvSpPr>
        <p:spPr>
          <a:xfrm>
            <a:off x="387658" y="3669824"/>
            <a:ext cx="1276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</a:rPr>
              <a:t>Demasiado papel</a:t>
            </a:r>
          </a:p>
        </p:txBody>
      </p:sp>
      <p:sp>
        <p:nvSpPr>
          <p:cNvPr id="52" name="TextBox 138">
            <a:extLst>
              <a:ext uri="{FF2B5EF4-FFF2-40B4-BE49-F238E27FC236}">
                <a16:creationId xmlns:a16="http://schemas.microsoft.com/office/drawing/2014/main" id="{44DA8674-FB98-AB14-1B06-7914C2667AE8}"/>
              </a:ext>
            </a:extLst>
          </p:cNvPr>
          <p:cNvSpPr txBox="1"/>
          <p:nvPr/>
        </p:nvSpPr>
        <p:spPr>
          <a:xfrm>
            <a:off x="295355" y="4134306"/>
            <a:ext cx="14609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Impresión duplicada.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Impresión innecesaria.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69F4186C-DCCA-4525-BEC1-8F0BA72F9C90}"/>
              </a:ext>
            </a:extLst>
          </p:cNvPr>
          <p:cNvSpPr/>
          <p:nvPr/>
        </p:nvSpPr>
        <p:spPr>
          <a:xfrm>
            <a:off x="2062368" y="2693039"/>
            <a:ext cx="861134" cy="833280"/>
          </a:xfrm>
          <a:prstGeom prst="ellipse">
            <a:avLst/>
          </a:prstGeom>
          <a:solidFill>
            <a:srgbClr val="E32D9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/>
          </a:p>
        </p:txBody>
      </p:sp>
      <p:sp>
        <p:nvSpPr>
          <p:cNvPr id="54" name="TextBox 137">
            <a:extLst>
              <a:ext uri="{FF2B5EF4-FFF2-40B4-BE49-F238E27FC236}">
                <a16:creationId xmlns:a16="http://schemas.microsoft.com/office/drawing/2014/main" id="{D0ADC3BA-E0FF-A72E-F97E-09AB2CA56473}"/>
              </a:ext>
            </a:extLst>
          </p:cNvPr>
          <p:cNvSpPr txBox="1"/>
          <p:nvPr/>
        </p:nvSpPr>
        <p:spPr>
          <a:xfrm>
            <a:off x="1803947" y="3669824"/>
            <a:ext cx="1276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</a:rPr>
              <a:t>Traslado</a:t>
            </a:r>
          </a:p>
        </p:txBody>
      </p:sp>
      <p:sp>
        <p:nvSpPr>
          <p:cNvPr id="55" name="TextBox 138">
            <a:extLst>
              <a:ext uri="{FF2B5EF4-FFF2-40B4-BE49-F238E27FC236}">
                <a16:creationId xmlns:a16="http://schemas.microsoft.com/office/drawing/2014/main" id="{E718E6A2-879F-F84E-8D38-7A180EC6DB28}"/>
              </a:ext>
            </a:extLst>
          </p:cNvPr>
          <p:cNvSpPr txBox="1"/>
          <p:nvPr/>
        </p:nvSpPr>
        <p:spPr>
          <a:xfrm>
            <a:off x="1675478" y="3944549"/>
            <a:ext cx="153328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Altos costos de traslado de documentos físicos.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Demora en atención del cliente.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6A8437D9-B7F3-DEA9-7F4D-1055B4090F63}"/>
              </a:ext>
            </a:extLst>
          </p:cNvPr>
          <p:cNvSpPr/>
          <p:nvPr/>
        </p:nvSpPr>
        <p:spPr>
          <a:xfrm>
            <a:off x="3478657" y="2693039"/>
            <a:ext cx="861134" cy="833280"/>
          </a:xfrm>
          <a:prstGeom prst="ellipse">
            <a:avLst/>
          </a:prstGeom>
          <a:solidFill>
            <a:srgbClr val="E32D9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/>
          </a:p>
        </p:txBody>
      </p:sp>
      <p:sp>
        <p:nvSpPr>
          <p:cNvPr id="57" name="TextBox 137">
            <a:extLst>
              <a:ext uri="{FF2B5EF4-FFF2-40B4-BE49-F238E27FC236}">
                <a16:creationId xmlns:a16="http://schemas.microsoft.com/office/drawing/2014/main" id="{E17369BE-679E-DD23-6CDD-0020520131E1}"/>
              </a:ext>
            </a:extLst>
          </p:cNvPr>
          <p:cNvSpPr txBox="1"/>
          <p:nvPr/>
        </p:nvSpPr>
        <p:spPr>
          <a:xfrm>
            <a:off x="3220236" y="3669824"/>
            <a:ext cx="1276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</a:rPr>
              <a:t>Guardado físico</a:t>
            </a:r>
          </a:p>
        </p:txBody>
      </p:sp>
      <p:sp>
        <p:nvSpPr>
          <p:cNvPr id="58" name="TextBox 138">
            <a:extLst>
              <a:ext uri="{FF2B5EF4-FFF2-40B4-BE49-F238E27FC236}">
                <a16:creationId xmlns:a16="http://schemas.microsoft.com/office/drawing/2014/main" id="{50E48C08-5F40-BD2A-34D0-5A74E6481EE4}"/>
              </a:ext>
            </a:extLst>
          </p:cNvPr>
          <p:cNvSpPr txBox="1"/>
          <p:nvPr/>
        </p:nvSpPr>
        <p:spPr>
          <a:xfrm>
            <a:off x="3091767" y="4074249"/>
            <a:ext cx="1533287" cy="10618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Documentos almacenados en guardas físicas de difícil acceso y costosas.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Documentos sensibles sin resguardo. (Almacenaje local) 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21D99C1B-BC8E-E37B-B38F-CC2F384498A5}"/>
              </a:ext>
            </a:extLst>
          </p:cNvPr>
          <p:cNvSpPr/>
          <p:nvPr/>
        </p:nvSpPr>
        <p:spPr>
          <a:xfrm>
            <a:off x="4910319" y="2693039"/>
            <a:ext cx="861134" cy="833280"/>
          </a:xfrm>
          <a:prstGeom prst="ellipse">
            <a:avLst/>
          </a:prstGeom>
          <a:solidFill>
            <a:srgbClr val="E32D9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/>
          </a:p>
        </p:txBody>
      </p:sp>
      <p:sp>
        <p:nvSpPr>
          <p:cNvPr id="60" name="TextBox 137">
            <a:extLst>
              <a:ext uri="{FF2B5EF4-FFF2-40B4-BE49-F238E27FC236}">
                <a16:creationId xmlns:a16="http://schemas.microsoft.com/office/drawing/2014/main" id="{F08973CE-9870-5605-A02A-47F548EB3FDD}"/>
              </a:ext>
            </a:extLst>
          </p:cNvPr>
          <p:cNvSpPr txBox="1"/>
          <p:nvPr/>
        </p:nvSpPr>
        <p:spPr>
          <a:xfrm>
            <a:off x="4651898" y="3669824"/>
            <a:ext cx="1276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</a:rPr>
              <a:t>Emails excesivos</a:t>
            </a:r>
          </a:p>
        </p:txBody>
      </p:sp>
      <p:sp>
        <p:nvSpPr>
          <p:cNvPr id="61" name="TextBox 138">
            <a:extLst>
              <a:ext uri="{FF2B5EF4-FFF2-40B4-BE49-F238E27FC236}">
                <a16:creationId xmlns:a16="http://schemas.microsoft.com/office/drawing/2014/main" id="{83102413-FE76-39FB-08EA-A8DF0AA79AB6}"/>
              </a:ext>
            </a:extLst>
          </p:cNvPr>
          <p:cNvSpPr txBox="1"/>
          <p:nvPr/>
        </p:nvSpPr>
        <p:spPr>
          <a:xfrm>
            <a:off x="4574242" y="4090328"/>
            <a:ext cx="153328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Uso del mail como punto inicial de captura y ruteador de documentos.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Email como resguardo documental.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62D091C4-8FD5-C29F-8005-2AF7FA2683FB}"/>
              </a:ext>
            </a:extLst>
          </p:cNvPr>
          <p:cNvSpPr/>
          <p:nvPr/>
        </p:nvSpPr>
        <p:spPr>
          <a:xfrm>
            <a:off x="6326608" y="2693039"/>
            <a:ext cx="861134" cy="833280"/>
          </a:xfrm>
          <a:prstGeom prst="ellipse">
            <a:avLst/>
          </a:prstGeom>
          <a:solidFill>
            <a:srgbClr val="E32D9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/>
          </a:p>
        </p:txBody>
      </p:sp>
      <p:sp>
        <p:nvSpPr>
          <p:cNvPr id="63" name="TextBox 137">
            <a:extLst>
              <a:ext uri="{FF2B5EF4-FFF2-40B4-BE49-F238E27FC236}">
                <a16:creationId xmlns:a16="http://schemas.microsoft.com/office/drawing/2014/main" id="{5AEA37C9-957D-B38E-A069-3425A52656DF}"/>
              </a:ext>
            </a:extLst>
          </p:cNvPr>
          <p:cNvSpPr txBox="1"/>
          <p:nvPr/>
        </p:nvSpPr>
        <p:spPr>
          <a:xfrm>
            <a:off x="6068187" y="3669824"/>
            <a:ext cx="13356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</a:rPr>
              <a:t>Productividad</a:t>
            </a:r>
          </a:p>
        </p:txBody>
      </p:sp>
      <p:sp>
        <p:nvSpPr>
          <p:cNvPr id="64" name="TextBox 138">
            <a:extLst>
              <a:ext uri="{FF2B5EF4-FFF2-40B4-BE49-F238E27FC236}">
                <a16:creationId xmlns:a16="http://schemas.microsoft.com/office/drawing/2014/main" id="{4DF59903-7CC8-9133-3CDF-34D8F215F8B1}"/>
              </a:ext>
            </a:extLst>
          </p:cNvPr>
          <p:cNvSpPr txBox="1"/>
          <p:nvPr/>
        </p:nvSpPr>
        <p:spPr>
          <a:xfrm>
            <a:off x="5969375" y="3944290"/>
            <a:ext cx="153328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Dificultad y perdida de tiempo para encontrar documentos físicos y digitales.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Demora en atención del cliente. 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4B849757-2D31-2C5C-CB3D-C304FAF7D4F5}"/>
              </a:ext>
            </a:extLst>
          </p:cNvPr>
          <p:cNvSpPr/>
          <p:nvPr/>
        </p:nvSpPr>
        <p:spPr>
          <a:xfrm>
            <a:off x="7742897" y="2693039"/>
            <a:ext cx="861134" cy="833280"/>
          </a:xfrm>
          <a:prstGeom prst="ellipse">
            <a:avLst/>
          </a:prstGeom>
          <a:solidFill>
            <a:srgbClr val="E32D9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/>
          </a:p>
        </p:txBody>
      </p:sp>
      <p:sp>
        <p:nvSpPr>
          <p:cNvPr id="66" name="TextBox 137">
            <a:extLst>
              <a:ext uri="{FF2B5EF4-FFF2-40B4-BE49-F238E27FC236}">
                <a16:creationId xmlns:a16="http://schemas.microsoft.com/office/drawing/2014/main" id="{12416165-5F0E-D9A5-5917-F11C4C363168}"/>
              </a:ext>
            </a:extLst>
          </p:cNvPr>
          <p:cNvSpPr txBox="1"/>
          <p:nvPr/>
        </p:nvSpPr>
        <p:spPr>
          <a:xfrm>
            <a:off x="7484476" y="3669824"/>
            <a:ext cx="1276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</a:rPr>
              <a:t>Archivos sueltos</a:t>
            </a:r>
          </a:p>
        </p:txBody>
      </p:sp>
      <p:sp>
        <p:nvSpPr>
          <p:cNvPr id="67" name="TextBox 138">
            <a:extLst>
              <a:ext uri="{FF2B5EF4-FFF2-40B4-BE49-F238E27FC236}">
                <a16:creationId xmlns:a16="http://schemas.microsoft.com/office/drawing/2014/main" id="{91423E3A-CC75-7212-BDAB-98E8E1CA21BA}"/>
              </a:ext>
            </a:extLst>
          </p:cNvPr>
          <p:cNvSpPr txBox="1"/>
          <p:nvPr/>
        </p:nvSpPr>
        <p:spPr>
          <a:xfrm>
            <a:off x="7356007" y="4138197"/>
            <a:ext cx="1533287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Archivos digitales fuera de un sistema de registro documental.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6B14DE45-3740-A62A-18A4-DFF9816614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1" b="13953"/>
          <a:stretch/>
        </p:blipFill>
        <p:spPr>
          <a:xfrm>
            <a:off x="809178" y="2858548"/>
            <a:ext cx="494547" cy="500389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019F62D9-17A9-5A3A-DC97-536C9E35A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9" b="55662"/>
          <a:stretch/>
        </p:blipFill>
        <p:spPr>
          <a:xfrm>
            <a:off x="2114623" y="2899875"/>
            <a:ext cx="764982" cy="387729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0AC77EC1-1554-982C-95E3-5F4E17133C4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90" b="4527"/>
          <a:stretch/>
        </p:blipFill>
        <p:spPr>
          <a:xfrm>
            <a:off x="3594018" y="2899874"/>
            <a:ext cx="631293" cy="424939"/>
          </a:xfrm>
          <a:prstGeom prst="rect">
            <a:avLst/>
          </a:prstGeom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078EE09B-9A2A-92FF-C719-0965ABF13ED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6" b="41375"/>
          <a:stretch/>
        </p:blipFill>
        <p:spPr>
          <a:xfrm>
            <a:off x="5026029" y="2873423"/>
            <a:ext cx="596774" cy="451390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E1758092-6999-C2BD-BCDF-F69A246E2D4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0" t="11175" r="12748" b="36068"/>
          <a:stretch/>
        </p:blipFill>
        <p:spPr>
          <a:xfrm>
            <a:off x="6448422" y="2811465"/>
            <a:ext cx="611298" cy="593086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C92CEBC4-BC62-571F-99F5-B2B047C38A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3" b="27111"/>
          <a:stretch/>
        </p:blipFill>
        <p:spPr>
          <a:xfrm>
            <a:off x="7962315" y="2873423"/>
            <a:ext cx="535606" cy="482989"/>
          </a:xfrm>
          <a:prstGeom prst="rect">
            <a:avLst/>
          </a:prstGeom>
        </p:spPr>
      </p:pic>
      <p:sp>
        <p:nvSpPr>
          <p:cNvPr id="74" name="Oval 54">
            <a:extLst>
              <a:ext uri="{FF2B5EF4-FFF2-40B4-BE49-F238E27FC236}">
                <a16:creationId xmlns:a16="http://schemas.microsoft.com/office/drawing/2014/main" id="{03C4FE9D-F01C-904C-7D4E-B3CB1EF4A2C4}"/>
              </a:ext>
            </a:extLst>
          </p:cNvPr>
          <p:cNvSpPr/>
          <p:nvPr/>
        </p:nvSpPr>
        <p:spPr>
          <a:xfrm>
            <a:off x="1667286" y="3025767"/>
            <a:ext cx="236891" cy="239135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55">
            <a:extLst>
              <a:ext uri="{FF2B5EF4-FFF2-40B4-BE49-F238E27FC236}">
                <a16:creationId xmlns:a16="http://schemas.microsoft.com/office/drawing/2014/main" id="{6EB55F4D-4B4C-1392-6894-F019544DFE52}"/>
              </a:ext>
            </a:extLst>
          </p:cNvPr>
          <p:cNvSpPr/>
          <p:nvPr/>
        </p:nvSpPr>
        <p:spPr>
          <a:xfrm>
            <a:off x="1737953" y="3092408"/>
            <a:ext cx="98738" cy="10523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6" name="Oval 54">
            <a:extLst>
              <a:ext uri="{FF2B5EF4-FFF2-40B4-BE49-F238E27FC236}">
                <a16:creationId xmlns:a16="http://schemas.microsoft.com/office/drawing/2014/main" id="{C077ECC3-89ED-8213-249F-331741E7C591}"/>
              </a:ext>
            </a:extLst>
          </p:cNvPr>
          <p:cNvSpPr/>
          <p:nvPr/>
        </p:nvSpPr>
        <p:spPr>
          <a:xfrm>
            <a:off x="3077959" y="3025767"/>
            <a:ext cx="236891" cy="239135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Arrow 55">
            <a:extLst>
              <a:ext uri="{FF2B5EF4-FFF2-40B4-BE49-F238E27FC236}">
                <a16:creationId xmlns:a16="http://schemas.microsoft.com/office/drawing/2014/main" id="{FF138839-8FE5-17D9-E7B1-F885D684831C}"/>
              </a:ext>
            </a:extLst>
          </p:cNvPr>
          <p:cNvSpPr/>
          <p:nvPr/>
        </p:nvSpPr>
        <p:spPr>
          <a:xfrm>
            <a:off x="3148626" y="3092408"/>
            <a:ext cx="98738" cy="10523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8" name="Oval 54">
            <a:extLst>
              <a:ext uri="{FF2B5EF4-FFF2-40B4-BE49-F238E27FC236}">
                <a16:creationId xmlns:a16="http://schemas.microsoft.com/office/drawing/2014/main" id="{51B229EA-DE40-9D37-55DB-DF7D5163DCC1}"/>
              </a:ext>
            </a:extLst>
          </p:cNvPr>
          <p:cNvSpPr/>
          <p:nvPr/>
        </p:nvSpPr>
        <p:spPr>
          <a:xfrm>
            <a:off x="4505018" y="3025767"/>
            <a:ext cx="236891" cy="239135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55">
            <a:extLst>
              <a:ext uri="{FF2B5EF4-FFF2-40B4-BE49-F238E27FC236}">
                <a16:creationId xmlns:a16="http://schemas.microsoft.com/office/drawing/2014/main" id="{74E33B81-49C1-CE57-04B4-D3395E39E899}"/>
              </a:ext>
            </a:extLst>
          </p:cNvPr>
          <p:cNvSpPr/>
          <p:nvPr/>
        </p:nvSpPr>
        <p:spPr>
          <a:xfrm>
            <a:off x="4575685" y="3092408"/>
            <a:ext cx="98738" cy="10523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0" name="Oval 54">
            <a:extLst>
              <a:ext uri="{FF2B5EF4-FFF2-40B4-BE49-F238E27FC236}">
                <a16:creationId xmlns:a16="http://schemas.microsoft.com/office/drawing/2014/main" id="{5BB43A08-1F71-7A07-9D66-1E98E5E8379E}"/>
              </a:ext>
            </a:extLst>
          </p:cNvPr>
          <p:cNvSpPr/>
          <p:nvPr/>
        </p:nvSpPr>
        <p:spPr>
          <a:xfrm>
            <a:off x="5949694" y="3025767"/>
            <a:ext cx="236891" cy="239135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Arrow 55">
            <a:extLst>
              <a:ext uri="{FF2B5EF4-FFF2-40B4-BE49-F238E27FC236}">
                <a16:creationId xmlns:a16="http://schemas.microsoft.com/office/drawing/2014/main" id="{CA8A7AAB-ED67-419C-C864-44A4B6AEBB11}"/>
              </a:ext>
            </a:extLst>
          </p:cNvPr>
          <p:cNvSpPr/>
          <p:nvPr/>
        </p:nvSpPr>
        <p:spPr>
          <a:xfrm>
            <a:off x="6020361" y="3092408"/>
            <a:ext cx="98738" cy="10523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2" name="Oval 54">
            <a:extLst>
              <a:ext uri="{FF2B5EF4-FFF2-40B4-BE49-F238E27FC236}">
                <a16:creationId xmlns:a16="http://schemas.microsoft.com/office/drawing/2014/main" id="{E7A8E69F-4B5D-FCDB-FBF3-27E39DE74BF8}"/>
              </a:ext>
            </a:extLst>
          </p:cNvPr>
          <p:cNvSpPr/>
          <p:nvPr/>
        </p:nvSpPr>
        <p:spPr>
          <a:xfrm>
            <a:off x="7347157" y="3048469"/>
            <a:ext cx="236891" cy="239135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55">
            <a:extLst>
              <a:ext uri="{FF2B5EF4-FFF2-40B4-BE49-F238E27FC236}">
                <a16:creationId xmlns:a16="http://schemas.microsoft.com/office/drawing/2014/main" id="{F5337E3E-6C06-DD2D-FDFE-49F053D10A62}"/>
              </a:ext>
            </a:extLst>
          </p:cNvPr>
          <p:cNvSpPr/>
          <p:nvPr/>
        </p:nvSpPr>
        <p:spPr>
          <a:xfrm>
            <a:off x="7417824" y="3115110"/>
            <a:ext cx="98738" cy="10523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4" name="TextBox 807">
            <a:extLst>
              <a:ext uri="{FF2B5EF4-FFF2-40B4-BE49-F238E27FC236}">
                <a16:creationId xmlns:a16="http://schemas.microsoft.com/office/drawing/2014/main" id="{430B4793-835D-2E7F-97A8-A77C4EEDCC99}"/>
              </a:ext>
            </a:extLst>
          </p:cNvPr>
          <p:cNvSpPr txBox="1"/>
          <p:nvPr/>
        </p:nvSpPr>
        <p:spPr>
          <a:xfrm>
            <a:off x="3384734" y="1324340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58595B"/>
                </a:solidFill>
                <a:latin typeface="+mj-lt"/>
              </a:rPr>
              <a:t>PROBLEMATICA ACTUAL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754E46F9-03A8-6271-A618-CCC3A604FF58}"/>
              </a:ext>
            </a:extLst>
          </p:cNvPr>
          <p:cNvSpPr txBox="1"/>
          <p:nvPr/>
        </p:nvSpPr>
        <p:spPr>
          <a:xfrm>
            <a:off x="7403851" y="5618319"/>
            <a:ext cx="1522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magenta Canal Directo</a:t>
            </a:r>
          </a:p>
        </p:txBody>
      </p: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324E9E4E-543C-6E02-6EC3-ED6FF36871E4}"/>
              </a:ext>
            </a:extLst>
          </p:cNvPr>
          <p:cNvCxnSpPr>
            <a:cxnSpLocks/>
          </p:cNvCxnSpPr>
          <p:nvPr/>
        </p:nvCxnSpPr>
        <p:spPr>
          <a:xfrm>
            <a:off x="8142865" y="6083972"/>
            <a:ext cx="0" cy="27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E00CCEF1-0056-6CDE-2D05-BC6DD6C574C1}"/>
              </a:ext>
            </a:extLst>
          </p:cNvPr>
          <p:cNvSpPr txBox="1"/>
          <p:nvPr/>
        </p:nvSpPr>
        <p:spPr>
          <a:xfrm>
            <a:off x="244445" y="273729"/>
            <a:ext cx="187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Montserrat (Titulo)</a:t>
            </a:r>
          </a:p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Tamaño: 30</a:t>
            </a:r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1F4AC4DF-B3EB-A471-668E-DD42014C9CD6}"/>
              </a:ext>
            </a:extLst>
          </p:cNvPr>
          <p:cNvCxnSpPr>
            <a:cxnSpLocks/>
          </p:cNvCxnSpPr>
          <p:nvPr/>
        </p:nvCxnSpPr>
        <p:spPr>
          <a:xfrm>
            <a:off x="1273583" y="770742"/>
            <a:ext cx="464370" cy="59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uadroTexto 90">
            <a:extLst>
              <a:ext uri="{FF2B5EF4-FFF2-40B4-BE49-F238E27FC236}">
                <a16:creationId xmlns:a16="http://schemas.microsoft.com/office/drawing/2014/main" id="{7CE7DE10-2972-2122-0CAB-25164EFEEE50}"/>
              </a:ext>
            </a:extLst>
          </p:cNvPr>
          <p:cNvSpPr txBox="1"/>
          <p:nvPr/>
        </p:nvSpPr>
        <p:spPr>
          <a:xfrm>
            <a:off x="1259174" y="1211815"/>
            <a:ext cx="1606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Montserrat (Titulo)</a:t>
            </a:r>
          </a:p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Tamaño: 30</a:t>
            </a:r>
          </a:p>
        </p:txBody>
      </p: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6521C23E-25C0-2DFD-96BF-DB65C18CBF53}"/>
              </a:ext>
            </a:extLst>
          </p:cNvPr>
          <p:cNvCxnSpPr>
            <a:cxnSpLocks/>
          </p:cNvCxnSpPr>
          <p:nvPr/>
        </p:nvCxnSpPr>
        <p:spPr>
          <a:xfrm>
            <a:off x="2865728" y="1462839"/>
            <a:ext cx="519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>
            <a:extLst>
              <a:ext uri="{FF2B5EF4-FFF2-40B4-BE49-F238E27FC236}">
                <a16:creationId xmlns:a16="http://schemas.microsoft.com/office/drawing/2014/main" id="{66A6C6B2-FB7B-E365-BA33-D1B64E9098A9}"/>
              </a:ext>
            </a:extLst>
          </p:cNvPr>
          <p:cNvSpPr txBox="1"/>
          <p:nvPr/>
        </p:nvSpPr>
        <p:spPr>
          <a:xfrm>
            <a:off x="646079" y="2056124"/>
            <a:ext cx="14914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050" dirty="0">
                <a:solidFill>
                  <a:srgbClr val="58595B"/>
                </a:solidFill>
              </a:rPr>
              <a:t>Iconos</a:t>
            </a:r>
          </a:p>
        </p:txBody>
      </p: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D978B56B-852E-A55D-C92C-BDC4865C256F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1391804" y="2310040"/>
            <a:ext cx="851579" cy="50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EE390C3-BB8A-5C36-2FDE-DD2C2F6F4FDB}"/>
              </a:ext>
            </a:extLst>
          </p:cNvPr>
          <p:cNvSpPr txBox="1"/>
          <p:nvPr/>
        </p:nvSpPr>
        <p:spPr>
          <a:xfrm>
            <a:off x="6890648" y="1324340"/>
            <a:ext cx="187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58595B"/>
                </a:solidFill>
              </a:rPr>
              <a:t>C</a:t>
            </a:r>
            <a:r>
              <a:rPr lang="es-AR" sz="1200" dirty="0">
                <a:solidFill>
                  <a:srgbClr val="58595B"/>
                </a:solidFill>
              </a:rPr>
              <a:t>ombinación de color magenta + gris</a:t>
            </a:r>
          </a:p>
        </p:txBody>
      </p: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9751F7F8-B8D0-10B4-A95F-A78101AFD2C8}"/>
              </a:ext>
            </a:extLst>
          </p:cNvPr>
          <p:cNvCxnSpPr>
            <a:cxnSpLocks/>
          </p:cNvCxnSpPr>
          <p:nvPr/>
        </p:nvCxnSpPr>
        <p:spPr>
          <a:xfrm>
            <a:off x="7685025" y="1873155"/>
            <a:ext cx="128007" cy="740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FEDF7EBD-E14B-B079-C044-8147654AC36A}"/>
              </a:ext>
            </a:extLst>
          </p:cNvPr>
          <p:cNvCxnSpPr>
            <a:cxnSpLocks/>
          </p:cNvCxnSpPr>
          <p:nvPr/>
        </p:nvCxnSpPr>
        <p:spPr>
          <a:xfrm flipV="1">
            <a:off x="3803915" y="5176961"/>
            <a:ext cx="0" cy="52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1DDC1EF4-66D1-E34D-56CE-11514AE667A3}"/>
              </a:ext>
            </a:extLst>
          </p:cNvPr>
          <p:cNvSpPr txBox="1"/>
          <p:nvPr/>
        </p:nvSpPr>
        <p:spPr>
          <a:xfrm>
            <a:off x="3259275" y="5710688"/>
            <a:ext cx="1491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9</a:t>
            </a:r>
          </a:p>
        </p:txBody>
      </p:sp>
      <p:cxnSp>
        <p:nvCxnSpPr>
          <p:cNvPr id="105" name="Conector recto de flecha 104">
            <a:extLst>
              <a:ext uri="{FF2B5EF4-FFF2-40B4-BE49-F238E27FC236}">
                <a16:creationId xmlns:a16="http://schemas.microsoft.com/office/drawing/2014/main" id="{2EC5F9B9-058F-CA81-F965-4265ABFF0C09}"/>
              </a:ext>
            </a:extLst>
          </p:cNvPr>
          <p:cNvCxnSpPr>
            <a:cxnSpLocks/>
          </p:cNvCxnSpPr>
          <p:nvPr/>
        </p:nvCxnSpPr>
        <p:spPr>
          <a:xfrm>
            <a:off x="1516246" y="3931372"/>
            <a:ext cx="387931" cy="1093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CA4E8502-88EC-399B-DAF0-475E78C9B0D1}"/>
              </a:ext>
            </a:extLst>
          </p:cNvPr>
          <p:cNvSpPr txBox="1"/>
          <p:nvPr/>
        </p:nvSpPr>
        <p:spPr>
          <a:xfrm>
            <a:off x="1368898" y="5087698"/>
            <a:ext cx="1491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 - negrita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10,5</a:t>
            </a:r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EBA65942-22C0-2D0D-8172-4CBD01DDBBD6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3909224" y="2444337"/>
            <a:ext cx="132007" cy="248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AA7AE2CB-5B73-D5AA-7947-613398EFFB6C}"/>
              </a:ext>
            </a:extLst>
          </p:cNvPr>
          <p:cNvSpPr txBox="1"/>
          <p:nvPr/>
        </p:nvSpPr>
        <p:spPr>
          <a:xfrm>
            <a:off x="3981559" y="1612835"/>
            <a:ext cx="175454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Soluciones de Digitalización</a:t>
            </a:r>
          </a:p>
          <a:p>
            <a:r>
              <a:rPr lang="es-AR" sz="1050" dirty="0">
                <a:solidFill>
                  <a:srgbClr val="58595B"/>
                </a:solidFill>
              </a:rPr>
              <a:t>R: 227</a:t>
            </a:r>
          </a:p>
          <a:p>
            <a:r>
              <a:rPr lang="es-AR" sz="1050" dirty="0">
                <a:solidFill>
                  <a:srgbClr val="58595B"/>
                </a:solidFill>
              </a:rPr>
              <a:t>G: 45</a:t>
            </a:r>
          </a:p>
          <a:p>
            <a:r>
              <a:rPr lang="es-AR" sz="1050" dirty="0">
                <a:solidFill>
                  <a:srgbClr val="58595B"/>
                </a:solidFill>
              </a:rPr>
              <a:t>B: 145</a:t>
            </a:r>
          </a:p>
          <a:p>
            <a:r>
              <a:rPr lang="es-AR" sz="1050" dirty="0">
                <a:solidFill>
                  <a:srgbClr val="58595B"/>
                </a:solidFill>
              </a:rPr>
              <a:t>#E32D91</a:t>
            </a:r>
          </a:p>
        </p:txBody>
      </p: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283A68FB-9259-C10D-4260-67668816707E}"/>
              </a:ext>
            </a:extLst>
          </p:cNvPr>
          <p:cNvCxnSpPr>
            <a:cxnSpLocks/>
          </p:cNvCxnSpPr>
          <p:nvPr/>
        </p:nvCxnSpPr>
        <p:spPr>
          <a:xfrm flipV="1">
            <a:off x="6033724" y="2564095"/>
            <a:ext cx="85375" cy="48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BF9749B6-587B-DFC3-01E9-30BAD04CCDD3}"/>
              </a:ext>
            </a:extLst>
          </p:cNvPr>
          <p:cNvSpPr txBox="1"/>
          <p:nvPr/>
        </p:nvSpPr>
        <p:spPr>
          <a:xfrm>
            <a:off x="5990154" y="1646755"/>
            <a:ext cx="677479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MPS</a:t>
            </a:r>
          </a:p>
          <a:p>
            <a:r>
              <a:rPr lang="es-AR" sz="1050" dirty="0">
                <a:solidFill>
                  <a:srgbClr val="58595B"/>
                </a:solidFill>
              </a:rPr>
              <a:t>R: 88</a:t>
            </a:r>
          </a:p>
          <a:p>
            <a:r>
              <a:rPr lang="es-AR" sz="1050" dirty="0">
                <a:solidFill>
                  <a:srgbClr val="58595B"/>
                </a:solidFill>
              </a:rPr>
              <a:t>G: 89</a:t>
            </a:r>
          </a:p>
          <a:p>
            <a:r>
              <a:rPr lang="es-AR" sz="1050" dirty="0">
                <a:solidFill>
                  <a:srgbClr val="58595B"/>
                </a:solidFill>
              </a:rPr>
              <a:t>B: 91</a:t>
            </a:r>
          </a:p>
          <a:p>
            <a:r>
              <a:rPr lang="es-AR" sz="1050" dirty="0">
                <a:solidFill>
                  <a:srgbClr val="58595B"/>
                </a:solidFill>
              </a:rPr>
              <a:t>#58595B</a:t>
            </a:r>
          </a:p>
        </p:txBody>
      </p:sp>
    </p:spTree>
    <p:extLst>
      <p:ext uri="{BB962C8B-B14F-4D97-AF65-F5344CB8AC3E}">
        <p14:creationId xmlns:p14="http://schemas.microsoft.com/office/powerpoint/2010/main" val="340585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 animBg="1"/>
      <p:bldP spid="51" grpId="0"/>
      <p:bldP spid="52" grpId="0"/>
      <p:bldP spid="53" grpId="0" animBg="1"/>
      <p:bldP spid="54" grpId="0"/>
      <p:bldP spid="55" grpId="0"/>
      <p:bldP spid="56" grpId="0" animBg="1"/>
      <p:bldP spid="57" grpId="0"/>
      <p:bldP spid="58" grpId="0"/>
      <p:bldP spid="59" grpId="0" animBg="1"/>
      <p:bldP spid="60" grpId="0"/>
      <p:bldP spid="61" grpId="0"/>
      <p:bldP spid="62" grpId="0" animBg="1"/>
      <p:bldP spid="63" grpId="0"/>
      <p:bldP spid="64" grpId="0"/>
      <p:bldP spid="65" grpId="0" animBg="1"/>
      <p:bldP spid="66" grpId="0"/>
      <p:bldP spid="67" grpId="0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64B8546-75F2-699E-791B-8164D18EA458}"/>
              </a:ext>
            </a:extLst>
          </p:cNvPr>
          <p:cNvSpPr txBox="1">
            <a:spLocks/>
          </p:cNvSpPr>
          <p:nvPr/>
        </p:nvSpPr>
        <p:spPr>
          <a:xfrm>
            <a:off x="1406387" y="340986"/>
            <a:ext cx="6331226" cy="736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rgbClr val="58595B"/>
                </a:solidFill>
              </a:rPr>
              <a:t>MPS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7B5131-12CE-57BF-96A8-9FD92930493C}"/>
              </a:ext>
            </a:extLst>
          </p:cNvPr>
          <p:cNvGrpSpPr/>
          <p:nvPr/>
        </p:nvGrpSpPr>
        <p:grpSpPr>
          <a:xfrm>
            <a:off x="3627000" y="1077586"/>
            <a:ext cx="1890000" cy="34289"/>
            <a:chOff x="4331115" y="3903804"/>
            <a:chExt cx="3529771" cy="45719"/>
          </a:xfrm>
        </p:grpSpPr>
        <p:sp>
          <p:nvSpPr>
            <p:cNvPr id="4" name="Rounded Rectangle 18">
              <a:extLst>
                <a:ext uri="{FF2B5EF4-FFF2-40B4-BE49-F238E27FC236}">
                  <a16:creationId xmlns:a16="http://schemas.microsoft.com/office/drawing/2014/main" id="{12A6A7F2-0253-1229-A0F4-6628153C7B20}"/>
                </a:ext>
              </a:extLst>
            </p:cNvPr>
            <p:cNvSpPr/>
            <p:nvPr/>
          </p:nvSpPr>
          <p:spPr>
            <a:xfrm>
              <a:off x="4331115" y="3903804"/>
              <a:ext cx="705954" cy="45719"/>
            </a:xfrm>
            <a:prstGeom prst="rect">
              <a:avLst/>
            </a:prstGeom>
            <a:solidFill>
              <a:srgbClr val="66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5" name="Rounded Rectangle 18">
              <a:extLst>
                <a:ext uri="{FF2B5EF4-FFF2-40B4-BE49-F238E27FC236}">
                  <a16:creationId xmlns:a16="http://schemas.microsoft.com/office/drawing/2014/main" id="{6E5A3007-7F0A-0F25-0387-8F80FC7F9130}"/>
                </a:ext>
              </a:extLst>
            </p:cNvPr>
            <p:cNvSpPr/>
            <p:nvPr/>
          </p:nvSpPr>
          <p:spPr>
            <a:xfrm>
              <a:off x="5037069" y="3903804"/>
              <a:ext cx="705954" cy="45719"/>
            </a:xfrm>
            <a:prstGeom prst="rect">
              <a:avLst/>
            </a:prstGeom>
            <a:solidFill>
              <a:srgbClr val="E3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6" name="Rounded Rectangle 18">
              <a:extLst>
                <a:ext uri="{FF2B5EF4-FFF2-40B4-BE49-F238E27FC236}">
                  <a16:creationId xmlns:a16="http://schemas.microsoft.com/office/drawing/2014/main" id="{F31A704C-66C7-DC99-41B7-DB56734322D7}"/>
                </a:ext>
              </a:extLst>
            </p:cNvPr>
            <p:cNvSpPr/>
            <p:nvPr/>
          </p:nvSpPr>
          <p:spPr>
            <a:xfrm>
              <a:off x="5743023" y="3903804"/>
              <a:ext cx="705954" cy="45719"/>
            </a:xfrm>
            <a:prstGeom prst="rect">
              <a:avLst/>
            </a:prstGeom>
            <a:solidFill>
              <a:srgbClr val="F79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7" name="Rounded Rectangle 18">
              <a:extLst>
                <a:ext uri="{FF2B5EF4-FFF2-40B4-BE49-F238E27FC236}">
                  <a16:creationId xmlns:a16="http://schemas.microsoft.com/office/drawing/2014/main" id="{31303237-B058-10D4-23A5-8850ED92DA9D}"/>
                </a:ext>
              </a:extLst>
            </p:cNvPr>
            <p:cNvSpPr/>
            <p:nvPr/>
          </p:nvSpPr>
          <p:spPr>
            <a:xfrm>
              <a:off x="6448978" y="3903804"/>
              <a:ext cx="705954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8" name="Rounded Rectangle 18">
              <a:extLst>
                <a:ext uri="{FF2B5EF4-FFF2-40B4-BE49-F238E27FC236}">
                  <a16:creationId xmlns:a16="http://schemas.microsoft.com/office/drawing/2014/main" id="{51003F04-D8C7-1535-0C3D-63E0024AA4A6}"/>
                </a:ext>
              </a:extLst>
            </p:cNvPr>
            <p:cNvSpPr/>
            <p:nvPr/>
          </p:nvSpPr>
          <p:spPr>
            <a:xfrm>
              <a:off x="7154932" y="3903804"/>
              <a:ext cx="705954" cy="45719"/>
            </a:xfrm>
            <a:prstGeom prst="rect">
              <a:avLst/>
            </a:prstGeom>
            <a:solidFill>
              <a:srgbClr val="47B1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</p:grp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9FF2C164-984D-2F70-47C9-53C3ED524096}"/>
              </a:ext>
            </a:extLst>
          </p:cNvPr>
          <p:cNvSpPr/>
          <p:nvPr/>
        </p:nvSpPr>
        <p:spPr>
          <a:xfrm rot="10800000" flipV="1">
            <a:off x="614064" y="5106035"/>
            <a:ext cx="1565912" cy="90435"/>
          </a:xfrm>
          <a:prstGeom prst="rect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DF94477C-424B-E31B-365C-1A0ABD282A15}"/>
              </a:ext>
            </a:extLst>
          </p:cNvPr>
          <p:cNvSpPr/>
          <p:nvPr/>
        </p:nvSpPr>
        <p:spPr>
          <a:xfrm rot="10800000" flipV="1">
            <a:off x="2179975" y="5106035"/>
            <a:ext cx="1565912" cy="9043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C4FA4A34-B257-6508-275E-476297BDE0D9}"/>
              </a:ext>
            </a:extLst>
          </p:cNvPr>
          <p:cNvSpPr/>
          <p:nvPr/>
        </p:nvSpPr>
        <p:spPr>
          <a:xfrm rot="10800000" flipV="1">
            <a:off x="3745882" y="5106035"/>
            <a:ext cx="1565912" cy="90435"/>
          </a:xfrm>
          <a:prstGeom prst="rect">
            <a:avLst/>
          </a:prstGeom>
          <a:solidFill>
            <a:srgbClr val="58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E39A047E-CA50-85FD-C3E7-E96DDE6D66D9}"/>
              </a:ext>
            </a:extLst>
          </p:cNvPr>
          <p:cNvSpPr/>
          <p:nvPr/>
        </p:nvSpPr>
        <p:spPr>
          <a:xfrm rot="10800000" flipV="1">
            <a:off x="5311795" y="5106035"/>
            <a:ext cx="1565912" cy="9043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C72E8175-1AAA-5E85-3419-923C50CB22F0}"/>
              </a:ext>
            </a:extLst>
          </p:cNvPr>
          <p:cNvSpPr/>
          <p:nvPr/>
        </p:nvSpPr>
        <p:spPr>
          <a:xfrm rot="10800000" flipV="1">
            <a:off x="6877702" y="5106035"/>
            <a:ext cx="1565912" cy="90435"/>
          </a:xfrm>
          <a:prstGeom prst="rect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cxnSp>
        <p:nvCxnSpPr>
          <p:cNvPr id="14" name="Straight Connector 855">
            <a:extLst>
              <a:ext uri="{FF2B5EF4-FFF2-40B4-BE49-F238E27FC236}">
                <a16:creationId xmlns:a16="http://schemas.microsoft.com/office/drawing/2014/main" id="{6941D1AA-DE6D-D7B3-9EC1-DC39C44EC329}"/>
              </a:ext>
            </a:extLst>
          </p:cNvPr>
          <p:cNvCxnSpPr>
            <a:cxnSpLocks/>
            <a:stCxn id="9" idx="0"/>
            <a:endCxn id="15" idx="2"/>
          </p:cNvCxnSpPr>
          <p:nvPr/>
        </p:nvCxnSpPr>
        <p:spPr>
          <a:xfrm flipH="1" flipV="1">
            <a:off x="1393922" y="4049870"/>
            <a:ext cx="3098" cy="1056165"/>
          </a:xfrm>
          <a:prstGeom prst="line">
            <a:avLst/>
          </a:prstGeom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870">
            <a:extLst>
              <a:ext uri="{FF2B5EF4-FFF2-40B4-BE49-F238E27FC236}">
                <a16:creationId xmlns:a16="http://schemas.microsoft.com/office/drawing/2014/main" id="{71D25C2A-0B34-2DE0-84D2-0EE8A859F606}"/>
              </a:ext>
            </a:extLst>
          </p:cNvPr>
          <p:cNvSpPr/>
          <p:nvPr/>
        </p:nvSpPr>
        <p:spPr>
          <a:xfrm>
            <a:off x="1123922" y="3509870"/>
            <a:ext cx="540000" cy="5400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58595B"/>
              </a:solidFill>
            </a:endParaRPr>
          </a:p>
        </p:txBody>
      </p:sp>
      <p:sp>
        <p:nvSpPr>
          <p:cNvPr id="16" name="TextBox 881">
            <a:extLst>
              <a:ext uri="{FF2B5EF4-FFF2-40B4-BE49-F238E27FC236}">
                <a16:creationId xmlns:a16="http://schemas.microsoft.com/office/drawing/2014/main" id="{C9FCDCA6-9EEE-BA26-E33D-37791A6EF4FF}"/>
              </a:ext>
            </a:extLst>
          </p:cNvPr>
          <p:cNvSpPr txBox="1"/>
          <p:nvPr/>
        </p:nvSpPr>
        <p:spPr>
          <a:xfrm>
            <a:off x="597746" y="3119607"/>
            <a:ext cx="162877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900" dirty="0">
                <a:solidFill>
                  <a:srgbClr val="58595B"/>
                </a:solidFill>
                <a:ea typeface="Roboto" pitchFamily="2" charset="0"/>
              </a:rPr>
              <a:t>Centralización en único proveedor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cxnSp>
        <p:nvCxnSpPr>
          <p:cNvPr id="17" name="Straight Connector 883">
            <a:extLst>
              <a:ext uri="{FF2B5EF4-FFF2-40B4-BE49-F238E27FC236}">
                <a16:creationId xmlns:a16="http://schemas.microsoft.com/office/drawing/2014/main" id="{82512B4B-2C4E-BBEC-1867-786EF616BC15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960858" y="4560552"/>
            <a:ext cx="2073" cy="545483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67">
            <a:extLst>
              <a:ext uri="{FF2B5EF4-FFF2-40B4-BE49-F238E27FC236}">
                <a16:creationId xmlns:a16="http://schemas.microsoft.com/office/drawing/2014/main" id="{C8D4F9A4-86A9-5231-A29A-7471AFBCAE20}"/>
              </a:ext>
            </a:extLst>
          </p:cNvPr>
          <p:cNvSpPr txBox="1"/>
          <p:nvPr/>
        </p:nvSpPr>
        <p:spPr>
          <a:xfrm>
            <a:off x="2113412" y="3644301"/>
            <a:ext cx="170591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900" dirty="0">
                <a:solidFill>
                  <a:srgbClr val="58595B"/>
                </a:solidFill>
                <a:ea typeface="Roboto" pitchFamily="2" charset="0"/>
              </a:rPr>
              <a:t>Comienzo inmediato del servicio sin inversión inicial</a:t>
            </a:r>
            <a:endParaRPr lang="es-AR" sz="900" dirty="0">
              <a:solidFill>
                <a:srgbClr val="58595B"/>
              </a:solidFill>
              <a:ea typeface="Roboto" pitchFamily="2" charset="0"/>
            </a:endParaRPr>
          </a:p>
        </p:txBody>
      </p:sp>
      <p:grpSp>
        <p:nvGrpSpPr>
          <p:cNvPr id="19" name="Group 76">
            <a:extLst>
              <a:ext uri="{FF2B5EF4-FFF2-40B4-BE49-F238E27FC236}">
                <a16:creationId xmlns:a16="http://schemas.microsoft.com/office/drawing/2014/main" id="{B54E6D87-2C6D-18F2-5523-693429A00949}"/>
              </a:ext>
            </a:extLst>
          </p:cNvPr>
          <p:cNvGrpSpPr/>
          <p:nvPr/>
        </p:nvGrpSpPr>
        <p:grpSpPr>
          <a:xfrm>
            <a:off x="2821161" y="4148978"/>
            <a:ext cx="283148" cy="283148"/>
            <a:chOff x="837205" y="3542332"/>
            <a:chExt cx="400024" cy="400024"/>
          </a:xfrm>
          <a:solidFill>
            <a:schemeClr val="bg2"/>
          </a:solidFill>
        </p:grpSpPr>
        <p:sp>
          <p:nvSpPr>
            <p:cNvPr id="20" name="Freeform 85">
              <a:extLst>
                <a:ext uri="{FF2B5EF4-FFF2-40B4-BE49-F238E27FC236}">
                  <a16:creationId xmlns:a16="http://schemas.microsoft.com/office/drawing/2014/main" id="{85A4297C-E63A-6EB0-C4EE-9E7DD801A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205" y="3542332"/>
              <a:ext cx="400024" cy="400024"/>
            </a:xfrm>
            <a:custGeom>
              <a:avLst/>
              <a:gdLst>
                <a:gd name="T0" fmla="*/ 116 w 128"/>
                <a:gd name="T1" fmla="*/ 0 h 128"/>
                <a:gd name="T2" fmla="*/ 28 w 128"/>
                <a:gd name="T3" fmla="*/ 0 h 128"/>
                <a:gd name="T4" fmla="*/ 16 w 128"/>
                <a:gd name="T5" fmla="*/ 12 h 128"/>
                <a:gd name="T6" fmla="*/ 16 w 128"/>
                <a:gd name="T7" fmla="*/ 20 h 128"/>
                <a:gd name="T8" fmla="*/ 12 w 128"/>
                <a:gd name="T9" fmla="*/ 20 h 128"/>
                <a:gd name="T10" fmla="*/ 0 w 128"/>
                <a:gd name="T11" fmla="*/ 32 h 128"/>
                <a:gd name="T12" fmla="*/ 0 w 128"/>
                <a:gd name="T13" fmla="*/ 112 h 128"/>
                <a:gd name="T14" fmla="*/ 16 w 128"/>
                <a:gd name="T15" fmla="*/ 128 h 128"/>
                <a:gd name="T16" fmla="*/ 112 w 128"/>
                <a:gd name="T17" fmla="*/ 128 h 128"/>
                <a:gd name="T18" fmla="*/ 128 w 128"/>
                <a:gd name="T19" fmla="*/ 112 h 128"/>
                <a:gd name="T20" fmla="*/ 128 w 128"/>
                <a:gd name="T21" fmla="*/ 12 h 128"/>
                <a:gd name="T22" fmla="*/ 116 w 128"/>
                <a:gd name="T23" fmla="*/ 0 h 128"/>
                <a:gd name="T24" fmla="*/ 120 w 128"/>
                <a:gd name="T25" fmla="*/ 112 h 128"/>
                <a:gd name="T26" fmla="*/ 112 w 128"/>
                <a:gd name="T27" fmla="*/ 120 h 128"/>
                <a:gd name="T28" fmla="*/ 16 w 128"/>
                <a:gd name="T29" fmla="*/ 120 h 128"/>
                <a:gd name="T30" fmla="*/ 8 w 128"/>
                <a:gd name="T31" fmla="*/ 112 h 128"/>
                <a:gd name="T32" fmla="*/ 8 w 128"/>
                <a:gd name="T33" fmla="*/ 32 h 128"/>
                <a:gd name="T34" fmla="*/ 12 w 128"/>
                <a:gd name="T35" fmla="*/ 28 h 128"/>
                <a:gd name="T36" fmla="*/ 16 w 128"/>
                <a:gd name="T37" fmla="*/ 28 h 128"/>
                <a:gd name="T38" fmla="*/ 16 w 128"/>
                <a:gd name="T39" fmla="*/ 108 h 128"/>
                <a:gd name="T40" fmla="*/ 20 w 128"/>
                <a:gd name="T41" fmla="*/ 112 h 128"/>
                <a:gd name="T42" fmla="*/ 24 w 128"/>
                <a:gd name="T43" fmla="*/ 108 h 128"/>
                <a:gd name="T44" fmla="*/ 24 w 128"/>
                <a:gd name="T45" fmla="*/ 12 h 128"/>
                <a:gd name="T46" fmla="*/ 28 w 128"/>
                <a:gd name="T47" fmla="*/ 8 h 128"/>
                <a:gd name="T48" fmla="*/ 116 w 128"/>
                <a:gd name="T49" fmla="*/ 8 h 128"/>
                <a:gd name="T50" fmla="*/ 120 w 128"/>
                <a:gd name="T51" fmla="*/ 12 h 128"/>
                <a:gd name="T52" fmla="*/ 120 w 128"/>
                <a:gd name="T53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" h="128">
                  <a:moveTo>
                    <a:pt x="11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6" y="5"/>
                    <a:pt x="16" y="1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0" y="25"/>
                    <a:pt x="0" y="3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12" y="128"/>
                    <a:pt x="112" y="128"/>
                    <a:pt x="112" y="128"/>
                  </a:cubicBezTo>
                  <a:cubicBezTo>
                    <a:pt x="121" y="128"/>
                    <a:pt x="128" y="121"/>
                    <a:pt x="128" y="1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112"/>
                  </a:moveTo>
                  <a:cubicBezTo>
                    <a:pt x="120" y="116"/>
                    <a:pt x="116" y="120"/>
                    <a:pt x="112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0"/>
                    <a:pt x="10" y="28"/>
                    <a:pt x="12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6" y="110"/>
                    <a:pt x="18" y="112"/>
                    <a:pt x="20" y="112"/>
                  </a:cubicBezTo>
                  <a:cubicBezTo>
                    <a:pt x="22" y="112"/>
                    <a:pt x="24" y="110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6" y="8"/>
                    <a:pt x="28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1" name="Freeform 86">
              <a:extLst>
                <a:ext uri="{FF2B5EF4-FFF2-40B4-BE49-F238E27FC236}">
                  <a16:creationId xmlns:a16="http://schemas.microsoft.com/office/drawing/2014/main" id="{C9A6CB4C-BAEF-3542-9947-E9991A00B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92836"/>
              <a:ext cx="112218" cy="1188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2" name="Freeform 87">
              <a:extLst>
                <a:ext uri="{FF2B5EF4-FFF2-40B4-BE49-F238E27FC236}">
                  <a16:creationId xmlns:a16="http://schemas.microsoft.com/office/drawing/2014/main" id="{A7861F36-75B0-25B0-97E6-8380F5A33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55870"/>
              <a:ext cx="112218" cy="1188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33A269D0-7311-5D94-E242-6CC2D6D32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17583"/>
              <a:ext cx="112218" cy="1320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4" name="Freeform 89">
              <a:extLst>
                <a:ext uri="{FF2B5EF4-FFF2-40B4-BE49-F238E27FC236}">
                  <a16:creationId xmlns:a16="http://schemas.microsoft.com/office/drawing/2014/main" id="{A927D8EA-B89D-AF65-4232-D97E9B27A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80306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5" name="Freeform 90">
              <a:extLst>
                <a:ext uri="{FF2B5EF4-FFF2-40B4-BE49-F238E27FC236}">
                  <a16:creationId xmlns:a16="http://schemas.microsoft.com/office/drawing/2014/main" id="{AE2F1006-C74A-D8A2-57B9-D576847B6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43340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6" name="Freeform 91">
              <a:extLst>
                <a:ext uri="{FF2B5EF4-FFF2-40B4-BE49-F238E27FC236}">
                  <a16:creationId xmlns:a16="http://schemas.microsoft.com/office/drawing/2014/main" id="{64FD551D-A1E4-BEB5-0C17-02AE424C4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05053"/>
              <a:ext cx="112218" cy="1320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7" name="Freeform 92">
              <a:extLst>
                <a:ext uri="{FF2B5EF4-FFF2-40B4-BE49-F238E27FC236}">
                  <a16:creationId xmlns:a16="http://schemas.microsoft.com/office/drawing/2014/main" id="{0D078FC6-EB12-7070-F1B8-5968DC380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80306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8" name="Freeform 93">
              <a:extLst>
                <a:ext uri="{FF2B5EF4-FFF2-40B4-BE49-F238E27FC236}">
                  <a16:creationId xmlns:a16="http://schemas.microsoft.com/office/drawing/2014/main" id="{09A13B20-5F46-37CC-0EDC-19BBEFABC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43340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29" name="Freeform 94">
              <a:extLst>
                <a:ext uri="{FF2B5EF4-FFF2-40B4-BE49-F238E27FC236}">
                  <a16:creationId xmlns:a16="http://schemas.microsoft.com/office/drawing/2014/main" id="{2F477F27-B4EC-765A-F05A-C523605E0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05053"/>
              <a:ext cx="112218" cy="1320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30" name="Freeform 95">
              <a:extLst>
                <a:ext uri="{FF2B5EF4-FFF2-40B4-BE49-F238E27FC236}">
                  <a16:creationId xmlns:a16="http://schemas.microsoft.com/office/drawing/2014/main" id="{F47CE0F1-B14A-4F27-6A5C-D714624FA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729802"/>
              <a:ext cx="249520" cy="13202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31" name="Freeform 96">
              <a:extLst>
                <a:ext uri="{FF2B5EF4-FFF2-40B4-BE49-F238E27FC236}">
                  <a16:creationId xmlns:a16="http://schemas.microsoft.com/office/drawing/2014/main" id="{4FB89D18-A479-29BD-DE07-99C59E483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768087"/>
              <a:ext cx="249520" cy="11882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  <p:sp>
          <p:nvSpPr>
            <p:cNvPr id="32" name="Freeform 97">
              <a:extLst>
                <a:ext uri="{FF2B5EF4-FFF2-40B4-BE49-F238E27FC236}">
                  <a16:creationId xmlns:a16="http://schemas.microsoft.com/office/drawing/2014/main" id="{5EC4DC19-B23E-D3F4-28CE-E2048A30AD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7541" y="3592500"/>
              <a:ext cx="112218" cy="112218"/>
            </a:xfrm>
            <a:custGeom>
              <a:avLst/>
              <a:gdLst>
                <a:gd name="T0" fmla="*/ 4 w 36"/>
                <a:gd name="T1" fmla="*/ 36 h 36"/>
                <a:gd name="T2" fmla="*/ 32 w 36"/>
                <a:gd name="T3" fmla="*/ 36 h 36"/>
                <a:gd name="T4" fmla="*/ 36 w 36"/>
                <a:gd name="T5" fmla="*/ 32 h 36"/>
                <a:gd name="T6" fmla="*/ 36 w 36"/>
                <a:gd name="T7" fmla="*/ 4 h 36"/>
                <a:gd name="T8" fmla="*/ 32 w 36"/>
                <a:gd name="T9" fmla="*/ 0 h 36"/>
                <a:gd name="T10" fmla="*/ 4 w 36"/>
                <a:gd name="T11" fmla="*/ 0 h 36"/>
                <a:gd name="T12" fmla="*/ 0 w 36"/>
                <a:gd name="T13" fmla="*/ 4 h 36"/>
                <a:gd name="T14" fmla="*/ 0 w 36"/>
                <a:gd name="T15" fmla="*/ 32 h 36"/>
                <a:gd name="T16" fmla="*/ 4 w 36"/>
                <a:gd name="T17" fmla="*/ 36 h 36"/>
                <a:gd name="T18" fmla="*/ 8 w 36"/>
                <a:gd name="T19" fmla="*/ 8 h 36"/>
                <a:gd name="T20" fmla="*/ 28 w 36"/>
                <a:gd name="T21" fmla="*/ 8 h 36"/>
                <a:gd name="T22" fmla="*/ 28 w 36"/>
                <a:gd name="T23" fmla="*/ 28 h 36"/>
                <a:gd name="T24" fmla="*/ 8 w 36"/>
                <a:gd name="T25" fmla="*/ 28 h 36"/>
                <a:gd name="T26" fmla="*/ 8 w 36"/>
                <a:gd name="T27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36">
                  <a:moveTo>
                    <a:pt x="4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4" y="36"/>
                    <a:pt x="36" y="34"/>
                    <a:pt x="36" y="32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lose/>
                  <a:moveTo>
                    <a:pt x="8" y="8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>
                <a:solidFill>
                  <a:srgbClr val="58595B"/>
                </a:solidFill>
              </a:endParaRPr>
            </a:p>
          </p:txBody>
        </p:sp>
      </p:grpSp>
      <p:cxnSp>
        <p:nvCxnSpPr>
          <p:cNvPr id="33" name="Straight Connector 104">
            <a:extLst>
              <a:ext uri="{FF2B5EF4-FFF2-40B4-BE49-F238E27FC236}">
                <a16:creationId xmlns:a16="http://schemas.microsoft.com/office/drawing/2014/main" id="{037E33CB-341E-0615-CE37-E2438387EA94}"/>
              </a:ext>
            </a:extLst>
          </p:cNvPr>
          <p:cNvCxnSpPr>
            <a:cxnSpLocks/>
            <a:stCxn id="11" idx="0"/>
            <a:endCxn id="34" idx="2"/>
          </p:cNvCxnSpPr>
          <p:nvPr/>
        </p:nvCxnSpPr>
        <p:spPr>
          <a:xfrm flipH="1" flipV="1">
            <a:off x="4527290" y="4049870"/>
            <a:ext cx="1548" cy="1056165"/>
          </a:xfrm>
          <a:prstGeom prst="line">
            <a:avLst/>
          </a:prstGeom>
          <a:ln w="12700">
            <a:solidFill>
              <a:srgbClr val="585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105">
            <a:extLst>
              <a:ext uri="{FF2B5EF4-FFF2-40B4-BE49-F238E27FC236}">
                <a16:creationId xmlns:a16="http://schemas.microsoft.com/office/drawing/2014/main" id="{8137FBB4-D451-FE1D-E47A-100172572BDC}"/>
              </a:ext>
            </a:extLst>
          </p:cNvPr>
          <p:cNvSpPr/>
          <p:nvPr/>
        </p:nvSpPr>
        <p:spPr>
          <a:xfrm>
            <a:off x="4257290" y="3509870"/>
            <a:ext cx="540000" cy="540000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58595B"/>
              </a:solidFill>
            </a:endParaRPr>
          </a:p>
        </p:txBody>
      </p:sp>
      <p:sp>
        <p:nvSpPr>
          <p:cNvPr id="35" name="TextBox 107">
            <a:extLst>
              <a:ext uri="{FF2B5EF4-FFF2-40B4-BE49-F238E27FC236}">
                <a16:creationId xmlns:a16="http://schemas.microsoft.com/office/drawing/2014/main" id="{4695CE82-C47B-7397-8617-5F7B1750768B}"/>
              </a:ext>
            </a:extLst>
          </p:cNvPr>
          <p:cNvSpPr txBox="1"/>
          <p:nvPr/>
        </p:nvSpPr>
        <p:spPr>
          <a:xfrm>
            <a:off x="3674332" y="3104008"/>
            <a:ext cx="170591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900" dirty="0">
                <a:solidFill>
                  <a:srgbClr val="58595B"/>
                </a:solidFill>
                <a:ea typeface="Roboto" pitchFamily="2" charset="0"/>
              </a:rPr>
              <a:t>Costo de impresión cierto y predecible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cxnSp>
        <p:nvCxnSpPr>
          <p:cNvPr id="36" name="Straight Connector 116">
            <a:extLst>
              <a:ext uri="{FF2B5EF4-FFF2-40B4-BE49-F238E27FC236}">
                <a16:creationId xmlns:a16="http://schemas.microsoft.com/office/drawing/2014/main" id="{BEF11E75-08D0-7A39-1728-A739C7F46108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6061854" y="4589870"/>
            <a:ext cx="8681" cy="545483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17">
            <a:extLst>
              <a:ext uri="{FF2B5EF4-FFF2-40B4-BE49-F238E27FC236}">
                <a16:creationId xmlns:a16="http://schemas.microsoft.com/office/drawing/2014/main" id="{C4B59B91-8485-08C5-1C26-A3701764F386}"/>
              </a:ext>
            </a:extLst>
          </p:cNvPr>
          <p:cNvSpPr/>
          <p:nvPr/>
        </p:nvSpPr>
        <p:spPr>
          <a:xfrm>
            <a:off x="5800535" y="4049870"/>
            <a:ext cx="540000" cy="54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58595B"/>
              </a:solidFill>
            </a:endParaRPr>
          </a:p>
        </p:txBody>
      </p:sp>
      <p:sp>
        <p:nvSpPr>
          <p:cNvPr id="38" name="TextBox 119">
            <a:extLst>
              <a:ext uri="{FF2B5EF4-FFF2-40B4-BE49-F238E27FC236}">
                <a16:creationId xmlns:a16="http://schemas.microsoft.com/office/drawing/2014/main" id="{2DA109B0-0CA6-2A55-241B-733BBF199ADF}"/>
              </a:ext>
            </a:extLst>
          </p:cNvPr>
          <p:cNvSpPr txBox="1"/>
          <p:nvPr/>
        </p:nvSpPr>
        <p:spPr>
          <a:xfrm>
            <a:off x="5270952" y="3687738"/>
            <a:ext cx="1628775" cy="278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900" dirty="0">
                <a:solidFill>
                  <a:srgbClr val="58595B"/>
                </a:solidFill>
                <a:ea typeface="Roboto" pitchFamily="2" charset="0"/>
              </a:rPr>
              <a:t>Servicio técnico 24/7</a:t>
            </a:r>
            <a:endParaRPr lang="es-AR" sz="900" dirty="0">
              <a:solidFill>
                <a:srgbClr val="58595B"/>
              </a:solidFill>
              <a:ea typeface="Roboto" pitchFamily="2" charset="0"/>
            </a:endParaRPr>
          </a:p>
        </p:txBody>
      </p:sp>
      <p:cxnSp>
        <p:nvCxnSpPr>
          <p:cNvPr id="39" name="Straight Connector 135">
            <a:extLst>
              <a:ext uri="{FF2B5EF4-FFF2-40B4-BE49-F238E27FC236}">
                <a16:creationId xmlns:a16="http://schemas.microsoft.com/office/drawing/2014/main" id="{4146B853-3B0F-3E68-CE2B-A5E4674D1E19}"/>
              </a:ext>
            </a:extLst>
          </p:cNvPr>
          <p:cNvCxnSpPr>
            <a:cxnSpLocks/>
            <a:stCxn id="13" idx="0"/>
            <a:endCxn id="40" idx="2"/>
          </p:cNvCxnSpPr>
          <p:nvPr/>
        </p:nvCxnSpPr>
        <p:spPr>
          <a:xfrm flipH="1" flipV="1">
            <a:off x="7649130" y="4020552"/>
            <a:ext cx="11528" cy="1085483"/>
          </a:xfrm>
          <a:prstGeom prst="line">
            <a:avLst/>
          </a:prstGeom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36">
            <a:extLst>
              <a:ext uri="{FF2B5EF4-FFF2-40B4-BE49-F238E27FC236}">
                <a16:creationId xmlns:a16="http://schemas.microsoft.com/office/drawing/2014/main" id="{193430F2-5BBB-8A32-F599-AE3D1A89C39B}"/>
              </a:ext>
            </a:extLst>
          </p:cNvPr>
          <p:cNvSpPr/>
          <p:nvPr/>
        </p:nvSpPr>
        <p:spPr>
          <a:xfrm>
            <a:off x="7379130" y="3480552"/>
            <a:ext cx="540000" cy="5400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58595B"/>
              </a:solidFill>
            </a:endParaRPr>
          </a:p>
        </p:txBody>
      </p:sp>
      <p:sp>
        <p:nvSpPr>
          <p:cNvPr id="41" name="TextBox 138">
            <a:extLst>
              <a:ext uri="{FF2B5EF4-FFF2-40B4-BE49-F238E27FC236}">
                <a16:creationId xmlns:a16="http://schemas.microsoft.com/office/drawing/2014/main" id="{40401113-48CF-850F-2084-564650FA5723}"/>
              </a:ext>
            </a:extLst>
          </p:cNvPr>
          <p:cNvSpPr txBox="1"/>
          <p:nvPr/>
        </p:nvSpPr>
        <p:spPr>
          <a:xfrm>
            <a:off x="6747029" y="2947120"/>
            <a:ext cx="1804200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Facturación detallada por centro de costos. Sistemas de </a:t>
            </a:r>
            <a:r>
              <a:rPr lang="es-AR" sz="900" dirty="0" err="1">
                <a:solidFill>
                  <a:srgbClr val="58595B"/>
                </a:solidFill>
                <a:ea typeface="Roboto" pitchFamily="2" charset="0"/>
              </a:rPr>
              <a:t>Pull</a:t>
            </a: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 </a:t>
            </a:r>
            <a:r>
              <a:rPr lang="es-AR" sz="900" dirty="0" err="1">
                <a:solidFill>
                  <a:srgbClr val="58595B"/>
                </a:solidFill>
                <a:ea typeface="Roboto" pitchFamily="2" charset="0"/>
              </a:rPr>
              <a:t>Printing</a:t>
            </a: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 según requerimiento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sp>
        <p:nvSpPr>
          <p:cNvPr id="42" name="Rectangle 105">
            <a:extLst>
              <a:ext uri="{FF2B5EF4-FFF2-40B4-BE49-F238E27FC236}">
                <a16:creationId xmlns:a16="http://schemas.microsoft.com/office/drawing/2014/main" id="{9FBE6A62-F6E9-623E-3259-9CE65724CCC6}"/>
              </a:ext>
            </a:extLst>
          </p:cNvPr>
          <p:cNvSpPr/>
          <p:nvPr/>
        </p:nvSpPr>
        <p:spPr>
          <a:xfrm>
            <a:off x="2698513" y="4049870"/>
            <a:ext cx="540000" cy="54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58595B"/>
              </a:solidFill>
            </a:endParaRP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51002FC8-F5BD-49E6-7B07-B65E88639F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016" y="3613665"/>
            <a:ext cx="427092" cy="320319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D865190C-3204-B9BA-4118-69BF6A1F08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6" r="11495"/>
          <a:stretch/>
        </p:blipFill>
        <p:spPr>
          <a:xfrm>
            <a:off x="2743260" y="4111840"/>
            <a:ext cx="435195" cy="402966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151B92EC-977D-F5AB-1308-72AD24C406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0" t="11179" r="33221" b="14444"/>
          <a:stretch/>
        </p:blipFill>
        <p:spPr>
          <a:xfrm>
            <a:off x="4356758" y="3560566"/>
            <a:ext cx="323588" cy="443403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923A9B55-FA6F-812A-C516-A498D7868FA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4" t="7822" r="14197" b="6504"/>
          <a:stretch/>
        </p:blipFill>
        <p:spPr>
          <a:xfrm>
            <a:off x="5837433" y="4126332"/>
            <a:ext cx="447742" cy="407745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D03AB47D-4B1A-57BB-B1ED-F8F66731DB7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9" r="27863"/>
          <a:stretch/>
        </p:blipFill>
        <p:spPr>
          <a:xfrm>
            <a:off x="7506340" y="3540246"/>
            <a:ext cx="284465" cy="418437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A936370D-CBDA-8B53-B768-83DBD7BDC0F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5" t="39334" r="19580" b="38125"/>
          <a:stretch/>
        </p:blipFill>
        <p:spPr>
          <a:xfrm>
            <a:off x="6818027" y="6310348"/>
            <a:ext cx="2157508" cy="402886"/>
          </a:xfrm>
          <a:prstGeom prst="rect">
            <a:avLst/>
          </a:prstGeom>
        </p:spPr>
      </p:pic>
      <p:sp>
        <p:nvSpPr>
          <p:cNvPr id="49" name="Content Placeholder 11">
            <a:extLst>
              <a:ext uri="{FF2B5EF4-FFF2-40B4-BE49-F238E27FC236}">
                <a16:creationId xmlns:a16="http://schemas.microsoft.com/office/drawing/2014/main" id="{76E0F9CA-60C9-BEC1-2BB1-770D4E2A4894}"/>
              </a:ext>
            </a:extLst>
          </p:cNvPr>
          <p:cNvSpPr txBox="1">
            <a:spLocks/>
          </p:cNvSpPr>
          <p:nvPr/>
        </p:nvSpPr>
        <p:spPr>
          <a:xfrm>
            <a:off x="614064" y="1418060"/>
            <a:ext cx="7829550" cy="84197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>
                  <a:lumMod val="75000"/>
                </a:schemeClr>
              </a:buClr>
              <a:buNone/>
            </a:pPr>
            <a:r>
              <a:rPr lang="es-AR" sz="1050" dirty="0">
                <a:solidFill>
                  <a:srgbClr val="58595B"/>
                </a:solidFill>
              </a:rPr>
              <a:t>Somos líderes en servicios de </a:t>
            </a:r>
            <a:r>
              <a:rPr lang="es-AR" sz="1050" dirty="0" err="1">
                <a:solidFill>
                  <a:srgbClr val="58595B"/>
                </a:solidFill>
              </a:rPr>
              <a:t>Managed</a:t>
            </a:r>
            <a:r>
              <a:rPr lang="es-AR" sz="1050" dirty="0">
                <a:solidFill>
                  <a:srgbClr val="58595B"/>
                </a:solidFill>
              </a:rPr>
              <a:t> </a:t>
            </a:r>
            <a:r>
              <a:rPr lang="es-AR" sz="1050" dirty="0" err="1">
                <a:solidFill>
                  <a:srgbClr val="58595B"/>
                </a:solidFill>
              </a:rPr>
              <a:t>Print</a:t>
            </a:r>
            <a:r>
              <a:rPr lang="es-AR" sz="1050" dirty="0">
                <a:solidFill>
                  <a:srgbClr val="58595B"/>
                </a:solidFill>
              </a:rPr>
              <a:t> </a:t>
            </a:r>
            <a:r>
              <a:rPr lang="es-AR" sz="1050" dirty="0" err="1">
                <a:solidFill>
                  <a:srgbClr val="58595B"/>
                </a:solidFill>
              </a:rPr>
              <a:t>Services</a:t>
            </a:r>
            <a:r>
              <a:rPr lang="es-AR" sz="1050" dirty="0">
                <a:solidFill>
                  <a:srgbClr val="58595B"/>
                </a:solidFill>
              </a:rPr>
              <a:t> y en gestión integral de documentos digitales. Integramos el equipamiento de impresión necesario a nuestras soluciones para dar respuesta a los requerimientos de cada cliente, contando con amplio stock de máquinas, repuestos e insumos, y un servicio con alcance nacional.  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2329F4-0441-8570-3DEB-62C7E3750D2D}"/>
              </a:ext>
            </a:extLst>
          </p:cNvPr>
          <p:cNvSpPr txBox="1"/>
          <p:nvPr/>
        </p:nvSpPr>
        <p:spPr>
          <a:xfrm>
            <a:off x="7356470" y="284396"/>
            <a:ext cx="1491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Source Sans Pro (Cuerpo)</a:t>
            </a:r>
          </a:p>
          <a:p>
            <a:r>
              <a:rPr lang="es-AR" sz="1200" dirty="0">
                <a:solidFill>
                  <a:srgbClr val="58595B"/>
                </a:solidFill>
              </a:rPr>
              <a:t>Tamaño: 10, 5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8938A34A-0994-1DAB-D274-DD1A02952D31}"/>
              </a:ext>
            </a:extLst>
          </p:cNvPr>
          <p:cNvCxnSpPr>
            <a:cxnSpLocks/>
          </p:cNvCxnSpPr>
          <p:nvPr/>
        </p:nvCxnSpPr>
        <p:spPr>
          <a:xfrm flipH="1">
            <a:off x="7773721" y="1017324"/>
            <a:ext cx="112907" cy="49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0AECF39-04A8-0E1C-3CB0-EF0B3247BF95}"/>
              </a:ext>
            </a:extLst>
          </p:cNvPr>
          <p:cNvSpPr txBox="1"/>
          <p:nvPr/>
        </p:nvSpPr>
        <p:spPr>
          <a:xfrm>
            <a:off x="1160643" y="526020"/>
            <a:ext cx="187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Montserrat (Titulo)</a:t>
            </a:r>
          </a:p>
          <a:p>
            <a:r>
              <a:rPr lang="es-AR" sz="1200" dirty="0">
                <a:solidFill>
                  <a:srgbClr val="58595B"/>
                </a:solidFill>
                <a:latin typeface="+mj-lt"/>
              </a:rPr>
              <a:t>Tamaño: 30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A7DD6719-1BE6-C8F0-33ED-DE614B51EA09}"/>
              </a:ext>
            </a:extLst>
          </p:cNvPr>
          <p:cNvCxnSpPr>
            <a:cxnSpLocks/>
          </p:cNvCxnSpPr>
          <p:nvPr/>
        </p:nvCxnSpPr>
        <p:spPr>
          <a:xfrm>
            <a:off x="3012211" y="745171"/>
            <a:ext cx="803789" cy="62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2AFD26D-D98E-696F-C37D-8C98FA76AC8F}"/>
              </a:ext>
            </a:extLst>
          </p:cNvPr>
          <p:cNvSpPr txBox="1"/>
          <p:nvPr/>
        </p:nvSpPr>
        <p:spPr>
          <a:xfrm>
            <a:off x="7753417" y="5618319"/>
            <a:ext cx="1173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Logo color gris Canal Directo</a:t>
            </a:r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82CE01D-38A3-F9D3-23E0-263EDFB6CD13}"/>
              </a:ext>
            </a:extLst>
          </p:cNvPr>
          <p:cNvCxnSpPr>
            <a:cxnSpLocks/>
          </p:cNvCxnSpPr>
          <p:nvPr/>
        </p:nvCxnSpPr>
        <p:spPr>
          <a:xfrm>
            <a:off x="8334251" y="6104167"/>
            <a:ext cx="0" cy="27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FB4E8BC5-CB9A-6D9D-6EEB-5F7ACD20F38A}"/>
              </a:ext>
            </a:extLst>
          </p:cNvPr>
          <p:cNvSpPr txBox="1"/>
          <p:nvPr/>
        </p:nvSpPr>
        <p:spPr>
          <a:xfrm>
            <a:off x="2276355" y="2619583"/>
            <a:ext cx="180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58595B"/>
                </a:solidFill>
              </a:rPr>
              <a:t>Source Sans Pro (Cuerpo)</a:t>
            </a:r>
          </a:p>
          <a:p>
            <a:r>
              <a:rPr lang="es-AR" sz="1200" dirty="0">
                <a:solidFill>
                  <a:srgbClr val="58595B"/>
                </a:solidFill>
              </a:rPr>
              <a:t>Tamaño: 9</a:t>
            </a: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36FC4001-238F-75FB-436C-2CBE9DCB62F2}"/>
              </a:ext>
            </a:extLst>
          </p:cNvPr>
          <p:cNvCxnSpPr>
            <a:cxnSpLocks/>
          </p:cNvCxnSpPr>
          <p:nvPr/>
        </p:nvCxnSpPr>
        <p:spPr>
          <a:xfrm flipH="1">
            <a:off x="2981961" y="3163928"/>
            <a:ext cx="112907" cy="49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14DEDF2-B820-325B-000B-217613FF93FC}"/>
              </a:ext>
            </a:extLst>
          </p:cNvPr>
          <p:cNvSpPr txBox="1"/>
          <p:nvPr/>
        </p:nvSpPr>
        <p:spPr>
          <a:xfrm>
            <a:off x="-203339" y="3484456"/>
            <a:ext cx="1491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200" dirty="0">
                <a:solidFill>
                  <a:srgbClr val="58595B"/>
                </a:solidFill>
              </a:rPr>
              <a:t>Iconos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B0B8421B-BED4-D329-7473-48471C8DC4A6}"/>
              </a:ext>
            </a:extLst>
          </p:cNvPr>
          <p:cNvCxnSpPr>
            <a:cxnSpLocks/>
          </p:cNvCxnSpPr>
          <p:nvPr/>
        </p:nvCxnSpPr>
        <p:spPr>
          <a:xfrm>
            <a:off x="801596" y="3646054"/>
            <a:ext cx="382680" cy="7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4ADEF4A-4D40-CB27-04A9-0BA44B8CF7FD}"/>
              </a:ext>
            </a:extLst>
          </p:cNvPr>
          <p:cNvSpPr txBox="1"/>
          <p:nvPr/>
        </p:nvSpPr>
        <p:spPr>
          <a:xfrm>
            <a:off x="3280767" y="5756818"/>
            <a:ext cx="1870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58595B"/>
                </a:solidFill>
              </a:rPr>
              <a:t>C</a:t>
            </a:r>
            <a:r>
              <a:rPr lang="es-AR" sz="1200" dirty="0">
                <a:solidFill>
                  <a:srgbClr val="58595B"/>
                </a:solidFill>
              </a:rPr>
              <a:t>ombinación de colores naranja + gris</a:t>
            </a: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5901A8D5-5B67-94E5-C59D-7E5BDEBD3334}"/>
              </a:ext>
            </a:extLst>
          </p:cNvPr>
          <p:cNvCxnSpPr>
            <a:cxnSpLocks/>
          </p:cNvCxnSpPr>
          <p:nvPr/>
        </p:nvCxnSpPr>
        <p:spPr>
          <a:xfrm flipV="1">
            <a:off x="4044504" y="5344216"/>
            <a:ext cx="118071" cy="418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3600B60C-7977-8C9A-FA7D-E677E124201D}"/>
              </a:ext>
            </a:extLst>
          </p:cNvPr>
          <p:cNvSpPr txBox="1"/>
          <p:nvPr/>
        </p:nvSpPr>
        <p:spPr>
          <a:xfrm>
            <a:off x="604008" y="5630837"/>
            <a:ext cx="116053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CANAL DIRECTO (Institucional) </a:t>
            </a:r>
          </a:p>
          <a:p>
            <a:r>
              <a:rPr lang="es-AR" sz="1050" dirty="0">
                <a:solidFill>
                  <a:srgbClr val="58595B"/>
                </a:solidFill>
              </a:rPr>
              <a:t>R: 247</a:t>
            </a:r>
          </a:p>
          <a:p>
            <a:r>
              <a:rPr lang="es-AR" sz="1050" dirty="0">
                <a:solidFill>
                  <a:srgbClr val="58595B"/>
                </a:solidFill>
              </a:rPr>
              <a:t>G: 148</a:t>
            </a:r>
          </a:p>
          <a:p>
            <a:r>
              <a:rPr lang="es-AR" sz="1050" dirty="0">
                <a:solidFill>
                  <a:srgbClr val="58595B"/>
                </a:solidFill>
              </a:rPr>
              <a:t>B:  29</a:t>
            </a:r>
          </a:p>
          <a:p>
            <a:r>
              <a:rPr lang="es-AR" sz="1050" dirty="0">
                <a:solidFill>
                  <a:srgbClr val="58595B"/>
                </a:solidFill>
              </a:rPr>
              <a:t>#F7941D</a:t>
            </a:r>
          </a:p>
          <a:p>
            <a:endParaRPr lang="es-AR" sz="1050" dirty="0">
              <a:solidFill>
                <a:srgbClr val="58595B"/>
              </a:solidFill>
            </a:endParaRP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6AAAA41-C7BD-41E9-5912-420F50784743}"/>
              </a:ext>
            </a:extLst>
          </p:cNvPr>
          <p:cNvCxnSpPr>
            <a:cxnSpLocks/>
          </p:cNvCxnSpPr>
          <p:nvPr/>
        </p:nvCxnSpPr>
        <p:spPr>
          <a:xfrm flipV="1">
            <a:off x="1508760" y="5293255"/>
            <a:ext cx="252881" cy="26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D76EAE4E-34DC-3766-5CB5-31FA57AE618A}"/>
              </a:ext>
            </a:extLst>
          </p:cNvPr>
          <p:cNvSpPr txBox="1"/>
          <p:nvPr/>
        </p:nvSpPr>
        <p:spPr>
          <a:xfrm>
            <a:off x="5311794" y="5497840"/>
            <a:ext cx="72871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MPS</a:t>
            </a:r>
          </a:p>
          <a:p>
            <a:r>
              <a:rPr lang="es-AR" sz="1050" dirty="0">
                <a:solidFill>
                  <a:srgbClr val="58595B"/>
                </a:solidFill>
              </a:rPr>
              <a:t>R: 88</a:t>
            </a:r>
          </a:p>
          <a:p>
            <a:r>
              <a:rPr lang="es-AR" sz="1050" dirty="0">
                <a:solidFill>
                  <a:srgbClr val="58595B"/>
                </a:solidFill>
              </a:rPr>
              <a:t>G: 89</a:t>
            </a:r>
          </a:p>
          <a:p>
            <a:r>
              <a:rPr lang="es-AR" sz="1050" dirty="0">
                <a:solidFill>
                  <a:srgbClr val="58595B"/>
                </a:solidFill>
              </a:rPr>
              <a:t>B: 91</a:t>
            </a:r>
          </a:p>
          <a:p>
            <a:r>
              <a:rPr lang="es-AR" sz="1050" dirty="0">
                <a:solidFill>
                  <a:srgbClr val="58595B"/>
                </a:solidFill>
              </a:rPr>
              <a:t>#58595B</a:t>
            </a:r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DBD0B089-8D1C-B7CA-4885-AC81C77F15A9}"/>
              </a:ext>
            </a:extLst>
          </p:cNvPr>
          <p:cNvCxnSpPr>
            <a:cxnSpLocks/>
          </p:cNvCxnSpPr>
          <p:nvPr/>
        </p:nvCxnSpPr>
        <p:spPr>
          <a:xfrm flipH="1" flipV="1">
            <a:off x="5003971" y="5293255"/>
            <a:ext cx="307823" cy="26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82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/>
      <p:bldP spid="18" grpId="0"/>
      <p:bldP spid="34" grpId="0" animBg="1"/>
      <p:bldP spid="35" grpId="0"/>
      <p:bldP spid="37" grpId="0" animBg="1"/>
      <p:bldP spid="38" grpId="0"/>
      <p:bldP spid="40" grpId="0" animBg="1"/>
      <p:bldP spid="41" grpId="0"/>
      <p:bldP spid="42" grpId="0" animBg="1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64B8546-75F2-699E-791B-8164D18EA458}"/>
              </a:ext>
            </a:extLst>
          </p:cNvPr>
          <p:cNvSpPr txBox="1">
            <a:spLocks/>
          </p:cNvSpPr>
          <p:nvPr/>
        </p:nvSpPr>
        <p:spPr>
          <a:xfrm>
            <a:off x="1406387" y="340986"/>
            <a:ext cx="6331226" cy="736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rgbClr val="58595B"/>
                </a:solidFill>
              </a:rPr>
              <a:t>Digital Signage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7B5131-12CE-57BF-96A8-9FD92930493C}"/>
              </a:ext>
            </a:extLst>
          </p:cNvPr>
          <p:cNvGrpSpPr/>
          <p:nvPr/>
        </p:nvGrpSpPr>
        <p:grpSpPr>
          <a:xfrm>
            <a:off x="3627000" y="1077586"/>
            <a:ext cx="1890000" cy="34289"/>
            <a:chOff x="4331115" y="3903804"/>
            <a:chExt cx="3529771" cy="45719"/>
          </a:xfrm>
        </p:grpSpPr>
        <p:sp>
          <p:nvSpPr>
            <p:cNvPr id="4" name="Rounded Rectangle 18">
              <a:extLst>
                <a:ext uri="{FF2B5EF4-FFF2-40B4-BE49-F238E27FC236}">
                  <a16:creationId xmlns:a16="http://schemas.microsoft.com/office/drawing/2014/main" id="{12A6A7F2-0253-1229-A0F4-6628153C7B20}"/>
                </a:ext>
              </a:extLst>
            </p:cNvPr>
            <p:cNvSpPr/>
            <p:nvPr/>
          </p:nvSpPr>
          <p:spPr>
            <a:xfrm>
              <a:off x="4331115" y="3903804"/>
              <a:ext cx="705954" cy="45719"/>
            </a:xfrm>
            <a:prstGeom prst="rect">
              <a:avLst/>
            </a:prstGeom>
            <a:solidFill>
              <a:srgbClr val="66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5" name="Rounded Rectangle 18">
              <a:extLst>
                <a:ext uri="{FF2B5EF4-FFF2-40B4-BE49-F238E27FC236}">
                  <a16:creationId xmlns:a16="http://schemas.microsoft.com/office/drawing/2014/main" id="{6E5A3007-7F0A-0F25-0387-8F80FC7F9130}"/>
                </a:ext>
              </a:extLst>
            </p:cNvPr>
            <p:cNvSpPr/>
            <p:nvPr/>
          </p:nvSpPr>
          <p:spPr>
            <a:xfrm>
              <a:off x="5037069" y="3903804"/>
              <a:ext cx="705954" cy="45719"/>
            </a:xfrm>
            <a:prstGeom prst="rect">
              <a:avLst/>
            </a:prstGeom>
            <a:solidFill>
              <a:srgbClr val="E3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6" name="Rounded Rectangle 18">
              <a:extLst>
                <a:ext uri="{FF2B5EF4-FFF2-40B4-BE49-F238E27FC236}">
                  <a16:creationId xmlns:a16="http://schemas.microsoft.com/office/drawing/2014/main" id="{F31A704C-66C7-DC99-41B7-DB56734322D7}"/>
                </a:ext>
              </a:extLst>
            </p:cNvPr>
            <p:cNvSpPr/>
            <p:nvPr/>
          </p:nvSpPr>
          <p:spPr>
            <a:xfrm>
              <a:off x="5743023" y="3903804"/>
              <a:ext cx="705954" cy="45719"/>
            </a:xfrm>
            <a:prstGeom prst="rect">
              <a:avLst/>
            </a:prstGeom>
            <a:solidFill>
              <a:srgbClr val="F79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7" name="Rounded Rectangle 18">
              <a:extLst>
                <a:ext uri="{FF2B5EF4-FFF2-40B4-BE49-F238E27FC236}">
                  <a16:creationId xmlns:a16="http://schemas.microsoft.com/office/drawing/2014/main" id="{31303237-B058-10D4-23A5-8850ED92DA9D}"/>
                </a:ext>
              </a:extLst>
            </p:cNvPr>
            <p:cNvSpPr/>
            <p:nvPr/>
          </p:nvSpPr>
          <p:spPr>
            <a:xfrm>
              <a:off x="6448978" y="3903804"/>
              <a:ext cx="705954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  <p:sp>
          <p:nvSpPr>
            <p:cNvPr id="8" name="Rounded Rectangle 18">
              <a:extLst>
                <a:ext uri="{FF2B5EF4-FFF2-40B4-BE49-F238E27FC236}">
                  <a16:creationId xmlns:a16="http://schemas.microsoft.com/office/drawing/2014/main" id="{51003F04-D8C7-1535-0C3D-63E0024AA4A6}"/>
                </a:ext>
              </a:extLst>
            </p:cNvPr>
            <p:cNvSpPr/>
            <p:nvPr/>
          </p:nvSpPr>
          <p:spPr>
            <a:xfrm>
              <a:off x="7154932" y="3903804"/>
              <a:ext cx="705954" cy="45719"/>
            </a:xfrm>
            <a:prstGeom prst="rect">
              <a:avLst/>
            </a:prstGeom>
            <a:solidFill>
              <a:srgbClr val="47B1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s-AR" sz="3000" b="1">
                <a:solidFill>
                  <a:schemeClr val="bg2"/>
                </a:solidFill>
              </a:endParaRPr>
            </a:p>
          </p:txBody>
        </p:sp>
      </p:grp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17960070-3D65-F598-4A2C-7B624D03A2E6}"/>
              </a:ext>
            </a:extLst>
          </p:cNvPr>
          <p:cNvSpPr/>
          <p:nvPr/>
        </p:nvSpPr>
        <p:spPr>
          <a:xfrm rot="10800000" flipV="1">
            <a:off x="657225" y="5629732"/>
            <a:ext cx="1565912" cy="90435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cxnSp>
        <p:nvCxnSpPr>
          <p:cNvPr id="10" name="Straight Connector 855">
            <a:extLst>
              <a:ext uri="{FF2B5EF4-FFF2-40B4-BE49-F238E27FC236}">
                <a16:creationId xmlns:a16="http://schemas.microsoft.com/office/drawing/2014/main" id="{D4718AC3-8C81-227E-19CF-487161B998E6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flipV="1">
            <a:off x="1440181" y="4843567"/>
            <a:ext cx="146" cy="786165"/>
          </a:xfrm>
          <a:prstGeom prst="line">
            <a:avLst/>
          </a:prstGeom>
          <a:ln w="12700">
            <a:solidFill>
              <a:srgbClr val="585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870">
            <a:extLst>
              <a:ext uri="{FF2B5EF4-FFF2-40B4-BE49-F238E27FC236}">
                <a16:creationId xmlns:a16="http://schemas.microsoft.com/office/drawing/2014/main" id="{F51BD287-8D80-BD59-822A-C04179C92EE7}"/>
              </a:ext>
            </a:extLst>
          </p:cNvPr>
          <p:cNvSpPr/>
          <p:nvPr/>
        </p:nvSpPr>
        <p:spPr>
          <a:xfrm>
            <a:off x="902193" y="4303567"/>
            <a:ext cx="1076268" cy="5400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Box 807">
            <a:extLst>
              <a:ext uri="{FF2B5EF4-FFF2-40B4-BE49-F238E27FC236}">
                <a16:creationId xmlns:a16="http://schemas.microsoft.com/office/drawing/2014/main" id="{D3CC465A-A660-B8A8-22C3-C53AAB50FAEC}"/>
              </a:ext>
            </a:extLst>
          </p:cNvPr>
          <p:cNvSpPr txBox="1"/>
          <p:nvPr/>
        </p:nvSpPr>
        <p:spPr>
          <a:xfrm>
            <a:off x="886290" y="4429337"/>
            <a:ext cx="110158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MENU BOARD</a:t>
            </a:r>
          </a:p>
        </p:txBody>
      </p:sp>
      <p:cxnSp>
        <p:nvCxnSpPr>
          <p:cNvPr id="14" name="Straight Connector 855">
            <a:extLst>
              <a:ext uri="{FF2B5EF4-FFF2-40B4-BE49-F238E27FC236}">
                <a16:creationId xmlns:a16="http://schemas.microsoft.com/office/drawing/2014/main" id="{78E9F525-9FD5-E87C-8284-90A06AA64095}"/>
              </a:ext>
            </a:extLst>
          </p:cNvPr>
          <p:cNvCxnSpPr>
            <a:cxnSpLocks/>
            <a:stCxn id="30" idx="0"/>
            <a:endCxn id="15" idx="2"/>
          </p:cNvCxnSpPr>
          <p:nvPr/>
        </p:nvCxnSpPr>
        <p:spPr>
          <a:xfrm flipV="1">
            <a:off x="3009937" y="4843566"/>
            <a:ext cx="146" cy="786165"/>
          </a:xfrm>
          <a:prstGeom prst="line">
            <a:avLst/>
          </a:prstGeom>
          <a:ln w="1270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870">
            <a:extLst>
              <a:ext uri="{FF2B5EF4-FFF2-40B4-BE49-F238E27FC236}">
                <a16:creationId xmlns:a16="http://schemas.microsoft.com/office/drawing/2014/main" id="{4CB30591-10A1-97C6-EC91-905F4B43D4BC}"/>
              </a:ext>
            </a:extLst>
          </p:cNvPr>
          <p:cNvSpPr/>
          <p:nvPr/>
        </p:nvSpPr>
        <p:spPr>
          <a:xfrm>
            <a:off x="2471949" y="4303566"/>
            <a:ext cx="1076268" cy="54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Box 807">
            <a:extLst>
              <a:ext uri="{FF2B5EF4-FFF2-40B4-BE49-F238E27FC236}">
                <a16:creationId xmlns:a16="http://schemas.microsoft.com/office/drawing/2014/main" id="{596BD632-7378-88D4-F837-209251D1ADD2}"/>
              </a:ext>
            </a:extLst>
          </p:cNvPr>
          <p:cNvSpPr txBox="1"/>
          <p:nvPr/>
        </p:nvSpPr>
        <p:spPr>
          <a:xfrm>
            <a:off x="2471657" y="4429336"/>
            <a:ext cx="1076268" cy="276999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RETAIL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979CFCC4-16C8-DD94-CEDC-F0205DF612F8}"/>
              </a:ext>
            </a:extLst>
          </p:cNvPr>
          <p:cNvSpPr/>
          <p:nvPr/>
        </p:nvSpPr>
        <p:spPr>
          <a:xfrm rot="10800000" flipV="1">
            <a:off x="3798146" y="5631680"/>
            <a:ext cx="1565912" cy="90435"/>
          </a:xfrm>
          <a:prstGeom prst="rect">
            <a:avLst/>
          </a:prstGeom>
          <a:solidFill>
            <a:srgbClr val="47B1CA"/>
          </a:solidFill>
          <a:ln>
            <a:solidFill>
              <a:srgbClr val="47B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cxnSp>
        <p:nvCxnSpPr>
          <p:cNvPr id="18" name="Straight Connector 855">
            <a:extLst>
              <a:ext uri="{FF2B5EF4-FFF2-40B4-BE49-F238E27FC236}">
                <a16:creationId xmlns:a16="http://schemas.microsoft.com/office/drawing/2014/main" id="{02B2B929-F157-774A-FD02-D5C6F227314D}"/>
              </a:ext>
            </a:extLst>
          </p:cNvPr>
          <p:cNvCxnSpPr>
            <a:cxnSpLocks/>
            <a:stCxn id="17" idx="0"/>
            <a:endCxn id="19" idx="2"/>
          </p:cNvCxnSpPr>
          <p:nvPr/>
        </p:nvCxnSpPr>
        <p:spPr>
          <a:xfrm flipV="1">
            <a:off x="4581102" y="4845515"/>
            <a:ext cx="146" cy="786165"/>
          </a:xfrm>
          <a:prstGeom prst="line">
            <a:avLst/>
          </a:prstGeom>
          <a:ln w="12700">
            <a:solidFill>
              <a:srgbClr val="47B1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870">
            <a:extLst>
              <a:ext uri="{FF2B5EF4-FFF2-40B4-BE49-F238E27FC236}">
                <a16:creationId xmlns:a16="http://schemas.microsoft.com/office/drawing/2014/main" id="{959E9552-5523-484E-E479-B42A7F346E74}"/>
              </a:ext>
            </a:extLst>
          </p:cNvPr>
          <p:cNvSpPr/>
          <p:nvPr/>
        </p:nvSpPr>
        <p:spPr>
          <a:xfrm>
            <a:off x="4043114" y="4305515"/>
            <a:ext cx="1076268" cy="540000"/>
          </a:xfrm>
          <a:prstGeom prst="rect">
            <a:avLst/>
          </a:prstGeom>
          <a:solidFill>
            <a:srgbClr val="47B1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TextBox 807">
            <a:extLst>
              <a:ext uri="{FF2B5EF4-FFF2-40B4-BE49-F238E27FC236}">
                <a16:creationId xmlns:a16="http://schemas.microsoft.com/office/drawing/2014/main" id="{0D1E1417-41A9-6AD7-BA0B-47471E96487C}"/>
              </a:ext>
            </a:extLst>
          </p:cNvPr>
          <p:cNvSpPr txBox="1"/>
          <p:nvPr/>
        </p:nvSpPr>
        <p:spPr>
          <a:xfrm>
            <a:off x="4065685" y="4431285"/>
            <a:ext cx="102463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CORPORATE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97A47C11-B5A2-8F16-7AC1-6437191C53E6}"/>
              </a:ext>
            </a:extLst>
          </p:cNvPr>
          <p:cNvSpPr/>
          <p:nvPr/>
        </p:nvSpPr>
        <p:spPr>
          <a:xfrm rot="10800000" flipV="1">
            <a:off x="5367902" y="5631679"/>
            <a:ext cx="1565912" cy="90435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cxnSp>
        <p:nvCxnSpPr>
          <p:cNvPr id="22" name="Straight Connector 855">
            <a:extLst>
              <a:ext uri="{FF2B5EF4-FFF2-40B4-BE49-F238E27FC236}">
                <a16:creationId xmlns:a16="http://schemas.microsoft.com/office/drawing/2014/main" id="{9D6AC596-33F8-F73A-AE7C-F9CE6E90F0AF}"/>
              </a:ext>
            </a:extLst>
          </p:cNvPr>
          <p:cNvCxnSpPr>
            <a:cxnSpLocks/>
            <a:stCxn id="21" idx="0"/>
            <a:endCxn id="23" idx="2"/>
          </p:cNvCxnSpPr>
          <p:nvPr/>
        </p:nvCxnSpPr>
        <p:spPr>
          <a:xfrm flipV="1">
            <a:off x="6150858" y="4845514"/>
            <a:ext cx="146" cy="786165"/>
          </a:xfrm>
          <a:prstGeom prst="line">
            <a:avLst/>
          </a:prstGeom>
          <a:ln w="12700"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870">
            <a:extLst>
              <a:ext uri="{FF2B5EF4-FFF2-40B4-BE49-F238E27FC236}">
                <a16:creationId xmlns:a16="http://schemas.microsoft.com/office/drawing/2014/main" id="{FAE869AA-4C4F-2F8A-6598-AB8FC81E0B1B}"/>
              </a:ext>
            </a:extLst>
          </p:cNvPr>
          <p:cNvSpPr/>
          <p:nvPr/>
        </p:nvSpPr>
        <p:spPr>
          <a:xfrm>
            <a:off x="5612870" y="4305514"/>
            <a:ext cx="1076268" cy="54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TextBox 807">
            <a:extLst>
              <a:ext uri="{FF2B5EF4-FFF2-40B4-BE49-F238E27FC236}">
                <a16:creationId xmlns:a16="http://schemas.microsoft.com/office/drawing/2014/main" id="{C6CF250C-C27D-A70D-DC9A-42416F69FE2D}"/>
              </a:ext>
            </a:extLst>
          </p:cNvPr>
          <p:cNvSpPr txBox="1"/>
          <p:nvPr/>
        </p:nvSpPr>
        <p:spPr>
          <a:xfrm>
            <a:off x="5612578" y="4431284"/>
            <a:ext cx="1076268" cy="276999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VIDEO WALL</a:t>
            </a:r>
          </a:p>
        </p:txBody>
      </p:sp>
      <p:sp>
        <p:nvSpPr>
          <p:cNvPr id="25" name="Rounded Rectangle 18">
            <a:extLst>
              <a:ext uri="{FF2B5EF4-FFF2-40B4-BE49-F238E27FC236}">
                <a16:creationId xmlns:a16="http://schemas.microsoft.com/office/drawing/2014/main" id="{E5CA04E9-0BD2-F23D-C6D4-C1A6DD776ED6}"/>
              </a:ext>
            </a:extLst>
          </p:cNvPr>
          <p:cNvSpPr/>
          <p:nvPr/>
        </p:nvSpPr>
        <p:spPr>
          <a:xfrm rot="10800000" flipV="1">
            <a:off x="6939072" y="5630813"/>
            <a:ext cx="1565912" cy="90435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cxnSp>
        <p:nvCxnSpPr>
          <p:cNvPr id="26" name="Straight Connector 855">
            <a:extLst>
              <a:ext uri="{FF2B5EF4-FFF2-40B4-BE49-F238E27FC236}">
                <a16:creationId xmlns:a16="http://schemas.microsoft.com/office/drawing/2014/main" id="{966A30E2-AB7C-BD61-C3E5-7E34E3D3BEAB}"/>
              </a:ext>
            </a:extLst>
          </p:cNvPr>
          <p:cNvCxnSpPr>
            <a:cxnSpLocks/>
            <a:stCxn id="25" idx="0"/>
            <a:endCxn id="27" idx="2"/>
          </p:cNvCxnSpPr>
          <p:nvPr/>
        </p:nvCxnSpPr>
        <p:spPr>
          <a:xfrm flipV="1">
            <a:off x="7722028" y="4844648"/>
            <a:ext cx="146" cy="786165"/>
          </a:xfrm>
          <a:prstGeom prst="line">
            <a:avLst/>
          </a:prstGeom>
          <a:ln w="12700">
            <a:solidFill>
              <a:srgbClr val="585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870">
            <a:extLst>
              <a:ext uri="{FF2B5EF4-FFF2-40B4-BE49-F238E27FC236}">
                <a16:creationId xmlns:a16="http://schemas.microsoft.com/office/drawing/2014/main" id="{0DDB0807-6255-1690-BEC5-6ACBB9043C2A}"/>
              </a:ext>
            </a:extLst>
          </p:cNvPr>
          <p:cNvSpPr/>
          <p:nvPr/>
        </p:nvSpPr>
        <p:spPr>
          <a:xfrm>
            <a:off x="7184040" y="4304648"/>
            <a:ext cx="1076268" cy="5400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Box 807">
            <a:extLst>
              <a:ext uri="{FF2B5EF4-FFF2-40B4-BE49-F238E27FC236}">
                <a16:creationId xmlns:a16="http://schemas.microsoft.com/office/drawing/2014/main" id="{3E8BDA81-F4C6-1E6E-5DAB-5D92AC7174C2}"/>
              </a:ext>
            </a:extLst>
          </p:cNvPr>
          <p:cNvSpPr txBox="1"/>
          <p:nvPr/>
        </p:nvSpPr>
        <p:spPr>
          <a:xfrm>
            <a:off x="7177757" y="4430418"/>
            <a:ext cx="108234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HOSPITALITY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7F6B02C-139A-0E4A-F2CF-828F46FA91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1" t="39066" r="19579" b="37955"/>
          <a:stretch/>
        </p:blipFill>
        <p:spPr>
          <a:xfrm>
            <a:off x="6827455" y="6307171"/>
            <a:ext cx="2197397" cy="416065"/>
          </a:xfrm>
          <a:prstGeom prst="rect">
            <a:avLst/>
          </a:prstGeom>
        </p:spPr>
      </p:pic>
      <p:sp>
        <p:nvSpPr>
          <p:cNvPr id="30" name="Rounded Rectangle 18">
            <a:extLst>
              <a:ext uri="{FF2B5EF4-FFF2-40B4-BE49-F238E27FC236}">
                <a16:creationId xmlns:a16="http://schemas.microsoft.com/office/drawing/2014/main" id="{7416DE52-B0E3-A596-D0AC-C8D217E50D31}"/>
              </a:ext>
            </a:extLst>
          </p:cNvPr>
          <p:cNvSpPr/>
          <p:nvPr/>
        </p:nvSpPr>
        <p:spPr>
          <a:xfrm rot="10800000" flipV="1">
            <a:off x="2226981" y="5629731"/>
            <a:ext cx="1565912" cy="90435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 anchorCtr="0"/>
          <a:lstStyle/>
          <a:p>
            <a:pPr algn="r"/>
            <a:endParaRPr lang="en-US" sz="900" b="1" dirty="0">
              <a:solidFill>
                <a:schemeClr val="bg2"/>
              </a:solidFill>
            </a:endParaRPr>
          </a:p>
        </p:txBody>
      </p:sp>
      <p:sp>
        <p:nvSpPr>
          <p:cNvPr id="31" name="Subtitle 12">
            <a:extLst>
              <a:ext uri="{FF2B5EF4-FFF2-40B4-BE49-F238E27FC236}">
                <a16:creationId xmlns:a16="http://schemas.microsoft.com/office/drawing/2014/main" id="{92FA5936-A8B7-F015-01B3-8AC288E5E927}"/>
              </a:ext>
            </a:extLst>
          </p:cNvPr>
          <p:cNvSpPr txBox="1">
            <a:spLocks/>
          </p:cNvSpPr>
          <p:nvPr/>
        </p:nvSpPr>
        <p:spPr>
          <a:xfrm>
            <a:off x="1143000" y="1311189"/>
            <a:ext cx="6858000" cy="376976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dirty="0">
                <a:solidFill>
                  <a:srgbClr val="58595B"/>
                </a:solidFill>
              </a:rPr>
              <a:t>Estudios demuestran que los displays dinámicos generan 7 veces más atención que los estáticos.</a:t>
            </a:r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B9DA5071-E382-8C1E-EF14-BC5BB57B1776}"/>
              </a:ext>
            </a:extLst>
          </p:cNvPr>
          <p:cNvSpPr/>
          <p:nvPr/>
        </p:nvSpPr>
        <p:spPr>
          <a:xfrm>
            <a:off x="1440181" y="1907154"/>
            <a:ext cx="786799" cy="536707"/>
          </a:xfrm>
          <a:prstGeom prst="rect">
            <a:avLst/>
          </a:prstGeom>
          <a:solidFill>
            <a:srgbClr val="47B1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07689C7C-4548-8A42-C29E-538040E4EF32}"/>
              </a:ext>
            </a:extLst>
          </p:cNvPr>
          <p:cNvSpPr txBox="1"/>
          <p:nvPr/>
        </p:nvSpPr>
        <p:spPr>
          <a:xfrm>
            <a:off x="931732" y="2485477"/>
            <a:ext cx="18036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  <a:latin typeface="+mj-lt"/>
              </a:rPr>
              <a:t>PREFERENCIA DIGITAL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782EED3F-91A5-7643-2BDC-968FDCB420E7}"/>
              </a:ext>
            </a:extLst>
          </p:cNvPr>
          <p:cNvSpPr txBox="1"/>
          <p:nvPr/>
        </p:nvSpPr>
        <p:spPr>
          <a:xfrm>
            <a:off x="1025697" y="2650052"/>
            <a:ext cx="1629998" cy="485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Más usuarios prefieren la publicidad digital.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sp>
        <p:nvSpPr>
          <p:cNvPr id="35" name="TextBox 807">
            <a:extLst>
              <a:ext uri="{FF2B5EF4-FFF2-40B4-BE49-F238E27FC236}">
                <a16:creationId xmlns:a16="http://schemas.microsoft.com/office/drawing/2014/main" id="{E59C9FEC-4B63-12C7-B6B3-9BA631BCA5CC}"/>
              </a:ext>
            </a:extLst>
          </p:cNvPr>
          <p:cNvSpPr txBox="1"/>
          <p:nvPr/>
        </p:nvSpPr>
        <p:spPr>
          <a:xfrm>
            <a:off x="1440181" y="1950099"/>
            <a:ext cx="78679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FB789B3C-F13E-6397-C9A7-2C8C825F0F55}"/>
              </a:ext>
            </a:extLst>
          </p:cNvPr>
          <p:cNvSpPr/>
          <p:nvPr/>
        </p:nvSpPr>
        <p:spPr>
          <a:xfrm>
            <a:off x="6601903" y="1907154"/>
            <a:ext cx="786799" cy="536707"/>
          </a:xfrm>
          <a:prstGeom prst="rect">
            <a:avLst/>
          </a:prstGeom>
          <a:solidFill>
            <a:srgbClr val="47B1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580E0BA7-FAA4-3DC1-14AE-B431E0272D86}"/>
              </a:ext>
            </a:extLst>
          </p:cNvPr>
          <p:cNvSpPr txBox="1"/>
          <p:nvPr/>
        </p:nvSpPr>
        <p:spPr>
          <a:xfrm>
            <a:off x="5957203" y="2485477"/>
            <a:ext cx="20762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  <a:latin typeface="+mj-lt"/>
              </a:rPr>
              <a:t>RECORDACIÓN DE MARCA</a:t>
            </a: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DD31A06A-7938-CA19-34B3-95C39832BD04}"/>
              </a:ext>
            </a:extLst>
          </p:cNvPr>
          <p:cNvSpPr txBox="1"/>
          <p:nvPr/>
        </p:nvSpPr>
        <p:spPr>
          <a:xfrm>
            <a:off x="6187419" y="2650052"/>
            <a:ext cx="1629998" cy="485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900" dirty="0">
                <a:solidFill>
                  <a:srgbClr val="58595B"/>
                </a:solidFill>
                <a:ea typeface="Roboto" pitchFamily="2" charset="0"/>
              </a:rPr>
              <a:t>Aumenta la percepción y recordación de tu marca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sp>
        <p:nvSpPr>
          <p:cNvPr id="39" name="TextBox 807">
            <a:extLst>
              <a:ext uri="{FF2B5EF4-FFF2-40B4-BE49-F238E27FC236}">
                <a16:creationId xmlns:a16="http://schemas.microsoft.com/office/drawing/2014/main" id="{427875BC-2000-172F-43AE-C7CBC7954976}"/>
              </a:ext>
            </a:extLst>
          </p:cNvPr>
          <p:cNvSpPr txBox="1"/>
          <p:nvPr/>
        </p:nvSpPr>
        <p:spPr>
          <a:xfrm>
            <a:off x="6601903" y="1950099"/>
            <a:ext cx="78679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73D91F21-2850-488B-C35F-C1241F8192E5}"/>
              </a:ext>
            </a:extLst>
          </p:cNvPr>
          <p:cNvSpPr/>
          <p:nvPr/>
        </p:nvSpPr>
        <p:spPr>
          <a:xfrm>
            <a:off x="4021043" y="1907154"/>
            <a:ext cx="786799" cy="536707"/>
          </a:xfrm>
          <a:prstGeom prst="rect">
            <a:avLst/>
          </a:prstGeom>
          <a:solidFill>
            <a:srgbClr val="47B1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24DA81F1-88BD-08B0-CBBC-1CA46FB792AF}"/>
              </a:ext>
            </a:extLst>
          </p:cNvPr>
          <p:cNvSpPr txBox="1"/>
          <p:nvPr/>
        </p:nvSpPr>
        <p:spPr>
          <a:xfrm>
            <a:off x="3513399" y="2485477"/>
            <a:ext cx="18020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1050" b="1" dirty="0">
                <a:solidFill>
                  <a:srgbClr val="58595B"/>
                </a:solidFill>
                <a:latin typeface="+mj-lt"/>
              </a:rPr>
              <a:t>DECISIÓN DE COMPRA</a:t>
            </a:r>
          </a:p>
        </p:txBody>
      </p:sp>
      <p:sp>
        <p:nvSpPr>
          <p:cNvPr id="42" name="TextBox 28">
            <a:extLst>
              <a:ext uri="{FF2B5EF4-FFF2-40B4-BE49-F238E27FC236}">
                <a16:creationId xmlns:a16="http://schemas.microsoft.com/office/drawing/2014/main" id="{B48F09C4-8708-F314-6DCB-5A0F7EE49A38}"/>
              </a:ext>
            </a:extLst>
          </p:cNvPr>
          <p:cNvSpPr txBox="1"/>
          <p:nvPr/>
        </p:nvSpPr>
        <p:spPr>
          <a:xfrm>
            <a:off x="3606559" y="2650052"/>
            <a:ext cx="1629998" cy="485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900" dirty="0">
                <a:solidFill>
                  <a:srgbClr val="58595B"/>
                </a:solidFill>
                <a:ea typeface="Roboto" pitchFamily="2" charset="0"/>
              </a:rPr>
              <a:t>Influye sobre la decisión de compra en tiempo real.</a:t>
            </a:r>
            <a:endParaRPr lang="id-ID" sz="900" dirty="0">
              <a:solidFill>
                <a:srgbClr val="58595B"/>
              </a:solidFill>
              <a:ea typeface="Roboto" pitchFamily="2" charset="0"/>
            </a:endParaRPr>
          </a:p>
        </p:txBody>
      </p:sp>
      <p:sp>
        <p:nvSpPr>
          <p:cNvPr id="43" name="TextBox 807">
            <a:extLst>
              <a:ext uri="{FF2B5EF4-FFF2-40B4-BE49-F238E27FC236}">
                <a16:creationId xmlns:a16="http://schemas.microsoft.com/office/drawing/2014/main" id="{D6E88912-8898-4D5B-2023-8DC8E191F0DC}"/>
              </a:ext>
            </a:extLst>
          </p:cNvPr>
          <p:cNvSpPr txBox="1"/>
          <p:nvPr/>
        </p:nvSpPr>
        <p:spPr>
          <a:xfrm>
            <a:off x="4021043" y="1950099"/>
            <a:ext cx="78679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39%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3D90841-41C7-6D9B-2F3B-1AC449DE6F4B}"/>
              </a:ext>
            </a:extLst>
          </p:cNvPr>
          <p:cNvSpPr txBox="1"/>
          <p:nvPr/>
        </p:nvSpPr>
        <p:spPr>
          <a:xfrm>
            <a:off x="3547925" y="6211669"/>
            <a:ext cx="19492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solidFill>
                  <a:srgbClr val="58595B"/>
                </a:solidFill>
              </a:rPr>
              <a:t>C</a:t>
            </a:r>
            <a:r>
              <a:rPr lang="es-AR" sz="1050" dirty="0">
                <a:solidFill>
                  <a:srgbClr val="58595B"/>
                </a:solidFill>
              </a:rPr>
              <a:t>ombinación de color gris y celeste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6E32A96-DE6E-C67F-40A7-1F6BCEE40759}"/>
              </a:ext>
            </a:extLst>
          </p:cNvPr>
          <p:cNvCxnSpPr>
            <a:cxnSpLocks/>
          </p:cNvCxnSpPr>
          <p:nvPr/>
        </p:nvCxnSpPr>
        <p:spPr>
          <a:xfrm flipV="1">
            <a:off x="4349303" y="5819113"/>
            <a:ext cx="118071" cy="418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D909349-E47A-B7A1-10D5-B5DE3E53F538}"/>
              </a:ext>
            </a:extLst>
          </p:cNvPr>
          <p:cNvSpPr txBox="1"/>
          <p:nvPr/>
        </p:nvSpPr>
        <p:spPr>
          <a:xfrm>
            <a:off x="6961188" y="5977781"/>
            <a:ext cx="233057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Logo color celeste Canal Directo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8EC7085A-BF27-A4E7-9FCC-88C857B49101}"/>
              </a:ext>
            </a:extLst>
          </p:cNvPr>
          <p:cNvCxnSpPr>
            <a:cxnSpLocks/>
          </p:cNvCxnSpPr>
          <p:nvPr/>
        </p:nvCxnSpPr>
        <p:spPr>
          <a:xfrm>
            <a:off x="7976109" y="6206717"/>
            <a:ext cx="0" cy="23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F2F0295-8538-1513-D5F6-DE74A069CCE2}"/>
              </a:ext>
            </a:extLst>
          </p:cNvPr>
          <p:cNvSpPr txBox="1"/>
          <p:nvPr/>
        </p:nvSpPr>
        <p:spPr>
          <a:xfrm>
            <a:off x="7177757" y="201858"/>
            <a:ext cx="1491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10, 5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347E566D-79BD-7BE9-85C9-D43A7D4BC3D4}"/>
              </a:ext>
            </a:extLst>
          </p:cNvPr>
          <p:cNvCxnSpPr>
            <a:cxnSpLocks/>
          </p:cNvCxnSpPr>
          <p:nvPr/>
        </p:nvCxnSpPr>
        <p:spPr>
          <a:xfrm flipH="1">
            <a:off x="7388702" y="934786"/>
            <a:ext cx="319213" cy="30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D462970-6895-CF72-940A-B70D49FEA8BC}"/>
              </a:ext>
            </a:extLst>
          </p:cNvPr>
          <p:cNvSpPr txBox="1"/>
          <p:nvPr/>
        </p:nvSpPr>
        <p:spPr>
          <a:xfrm>
            <a:off x="245852" y="3299611"/>
            <a:ext cx="116053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9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8E6BE3F7-E1E4-562C-4BBE-80A2D381C095}"/>
              </a:ext>
            </a:extLst>
          </p:cNvPr>
          <p:cNvCxnSpPr>
            <a:cxnSpLocks/>
          </p:cNvCxnSpPr>
          <p:nvPr/>
        </p:nvCxnSpPr>
        <p:spPr>
          <a:xfrm flipV="1">
            <a:off x="807142" y="2865112"/>
            <a:ext cx="343145" cy="38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21EC1D9-CAFB-C275-36B1-D29B698518F7}"/>
              </a:ext>
            </a:extLst>
          </p:cNvPr>
          <p:cNvSpPr txBox="1"/>
          <p:nvPr/>
        </p:nvSpPr>
        <p:spPr>
          <a:xfrm>
            <a:off x="7759259" y="1530156"/>
            <a:ext cx="14914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 – negrita – mayúscula 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24</a:t>
            </a: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31A28AD3-D1F7-58AC-35F9-C35CF40F1ACF}"/>
              </a:ext>
            </a:extLst>
          </p:cNvPr>
          <p:cNvCxnSpPr>
            <a:cxnSpLocks/>
          </p:cNvCxnSpPr>
          <p:nvPr/>
        </p:nvCxnSpPr>
        <p:spPr>
          <a:xfrm>
            <a:off x="1143000" y="1590743"/>
            <a:ext cx="414810" cy="220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A25883B-EAE3-FF5D-DE6B-1C4A8CBAC4D7}"/>
              </a:ext>
            </a:extLst>
          </p:cNvPr>
          <p:cNvSpPr txBox="1"/>
          <p:nvPr/>
        </p:nvSpPr>
        <p:spPr>
          <a:xfrm>
            <a:off x="201334" y="1205381"/>
            <a:ext cx="1491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 - negrita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24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BBFD58E3-6469-CC08-167C-B7D57A28D108}"/>
              </a:ext>
            </a:extLst>
          </p:cNvPr>
          <p:cNvCxnSpPr>
            <a:cxnSpLocks/>
          </p:cNvCxnSpPr>
          <p:nvPr/>
        </p:nvCxnSpPr>
        <p:spPr>
          <a:xfrm flipH="1">
            <a:off x="7976109" y="2265275"/>
            <a:ext cx="317347" cy="260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FC13CCD5-3811-90F7-2711-5B295E2541AE}"/>
              </a:ext>
            </a:extLst>
          </p:cNvPr>
          <p:cNvSpPr txBox="1"/>
          <p:nvPr/>
        </p:nvSpPr>
        <p:spPr>
          <a:xfrm>
            <a:off x="2550734" y="3510406"/>
            <a:ext cx="116053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Source Sans Pro (Cuerpo)</a:t>
            </a:r>
          </a:p>
          <a:p>
            <a:r>
              <a:rPr lang="es-AR" sz="1050" dirty="0">
                <a:solidFill>
                  <a:srgbClr val="58595B"/>
                </a:solidFill>
              </a:rPr>
              <a:t>Tamaño: 12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629EE05-2A57-3A4C-31DB-8343B11165C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3009791" y="4026064"/>
            <a:ext cx="292" cy="277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08B96D8E-DDD1-5220-03DC-C2104AB2CC83}"/>
              </a:ext>
            </a:extLst>
          </p:cNvPr>
          <p:cNvSpPr txBox="1"/>
          <p:nvPr/>
        </p:nvSpPr>
        <p:spPr>
          <a:xfrm>
            <a:off x="775145" y="498016"/>
            <a:ext cx="14914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  <a:latin typeface="+mj-lt"/>
              </a:rPr>
              <a:t>Montserrat (Titulo)</a:t>
            </a:r>
          </a:p>
          <a:p>
            <a:r>
              <a:rPr lang="es-AR" sz="1050" dirty="0">
                <a:solidFill>
                  <a:srgbClr val="58595B"/>
                </a:solidFill>
                <a:latin typeface="+mj-lt"/>
              </a:rPr>
              <a:t>Tamaño: 30</a:t>
            </a:r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DCEBF4AE-9B07-A8C2-CF9C-1DA30CA19CE4}"/>
              </a:ext>
            </a:extLst>
          </p:cNvPr>
          <p:cNvCxnSpPr>
            <a:cxnSpLocks/>
          </p:cNvCxnSpPr>
          <p:nvPr/>
        </p:nvCxnSpPr>
        <p:spPr>
          <a:xfrm>
            <a:off x="2247985" y="717167"/>
            <a:ext cx="803789" cy="62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6A519733-199A-5D31-9F34-2BC57043E08E}"/>
              </a:ext>
            </a:extLst>
          </p:cNvPr>
          <p:cNvCxnSpPr>
            <a:cxnSpLocks/>
          </p:cNvCxnSpPr>
          <p:nvPr/>
        </p:nvCxnSpPr>
        <p:spPr>
          <a:xfrm flipH="1">
            <a:off x="4581101" y="3962862"/>
            <a:ext cx="362923" cy="29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63A6006-407D-3078-FDCF-ED0D69A0F8F5}"/>
              </a:ext>
            </a:extLst>
          </p:cNvPr>
          <p:cNvSpPr txBox="1"/>
          <p:nvPr/>
        </p:nvSpPr>
        <p:spPr>
          <a:xfrm>
            <a:off x="4944024" y="3144006"/>
            <a:ext cx="11605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rgbClr val="58595B"/>
                </a:solidFill>
              </a:rPr>
              <a:t>Digital Signare</a:t>
            </a:r>
          </a:p>
          <a:p>
            <a:r>
              <a:rPr lang="es-AR" sz="1050" dirty="0">
                <a:solidFill>
                  <a:srgbClr val="58595B"/>
                </a:solidFill>
              </a:rPr>
              <a:t>R: 71</a:t>
            </a:r>
          </a:p>
          <a:p>
            <a:r>
              <a:rPr lang="es-AR" sz="1050" dirty="0">
                <a:solidFill>
                  <a:srgbClr val="58595B"/>
                </a:solidFill>
              </a:rPr>
              <a:t>G: 177</a:t>
            </a:r>
          </a:p>
          <a:p>
            <a:r>
              <a:rPr lang="es-AR" sz="1050" dirty="0">
                <a:solidFill>
                  <a:srgbClr val="58595B"/>
                </a:solidFill>
              </a:rPr>
              <a:t>B: 202</a:t>
            </a:r>
          </a:p>
          <a:p>
            <a:r>
              <a:rPr lang="es-AR" sz="1050" dirty="0">
                <a:solidFill>
                  <a:srgbClr val="58595B"/>
                </a:solidFill>
              </a:rPr>
              <a:t>#3DB1CA </a:t>
            </a:r>
          </a:p>
          <a:p>
            <a:endParaRPr lang="es-AR" sz="1050" dirty="0">
              <a:solidFill>
                <a:srgbClr val="5859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1" grpId="0" animBg="1"/>
      <p:bldP spid="12" grpId="0"/>
      <p:bldP spid="15" grpId="0" animBg="1"/>
      <p:bldP spid="16" grpId="0" animBg="1"/>
      <p:bldP spid="17" grpId="0" animBg="1"/>
      <p:bldP spid="19" grpId="0" animBg="1"/>
      <p:bldP spid="20" grpId="0"/>
      <p:bldP spid="21" grpId="0" animBg="1"/>
      <p:bldP spid="23" grpId="0" animBg="1"/>
      <p:bldP spid="24" grpId="0" animBg="1"/>
      <p:bldP spid="25" grpId="0" animBg="1"/>
      <p:bldP spid="27" grpId="0" animBg="1"/>
      <p:bldP spid="28" grpId="0"/>
      <p:bldP spid="30" grpId="0" animBg="1"/>
      <p:bldP spid="31" grpId="0" build="p"/>
      <p:bldP spid="32" grpId="0" animBg="1"/>
      <p:bldP spid="33" grpId="0"/>
      <p:bldP spid="34" grpId="0"/>
      <p:bldP spid="35" grpId="0"/>
      <p:bldP spid="36" grpId="0" animBg="1"/>
      <p:bldP spid="37" grpId="0"/>
      <p:bldP spid="38" grpId="0"/>
      <p:bldP spid="39" grpId="0"/>
      <p:bldP spid="40" grpId="0" animBg="1"/>
      <p:bldP spid="41" grpId="0"/>
      <p:bldP spid="42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CDF05E-0247-CC67-7CDD-52084C5C6B7B}"/>
              </a:ext>
            </a:extLst>
          </p:cNvPr>
          <p:cNvGrpSpPr/>
          <p:nvPr/>
        </p:nvGrpSpPr>
        <p:grpSpPr>
          <a:xfrm>
            <a:off x="3712225" y="3918403"/>
            <a:ext cx="1890000" cy="34289"/>
            <a:chOff x="4331115" y="3903804"/>
            <a:chExt cx="3529771" cy="45719"/>
          </a:xfrm>
        </p:grpSpPr>
        <p:sp>
          <p:nvSpPr>
            <p:cNvPr id="4" name="Rounded Rectangle 18">
              <a:extLst>
                <a:ext uri="{FF2B5EF4-FFF2-40B4-BE49-F238E27FC236}">
                  <a16:creationId xmlns:a16="http://schemas.microsoft.com/office/drawing/2014/main" id="{F7105FAD-CA58-3BBE-B190-1859593A5AAC}"/>
                </a:ext>
              </a:extLst>
            </p:cNvPr>
            <p:cNvSpPr/>
            <p:nvPr/>
          </p:nvSpPr>
          <p:spPr>
            <a:xfrm>
              <a:off x="4331115" y="3903804"/>
              <a:ext cx="705954" cy="45719"/>
            </a:xfrm>
            <a:prstGeom prst="rect">
              <a:avLst/>
            </a:prstGeom>
            <a:solidFill>
              <a:srgbClr val="66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5" name="Rounded Rectangle 18">
              <a:extLst>
                <a:ext uri="{FF2B5EF4-FFF2-40B4-BE49-F238E27FC236}">
                  <a16:creationId xmlns:a16="http://schemas.microsoft.com/office/drawing/2014/main" id="{2250DCDD-C362-45C2-42D0-301BD0447D85}"/>
                </a:ext>
              </a:extLst>
            </p:cNvPr>
            <p:cNvSpPr/>
            <p:nvPr/>
          </p:nvSpPr>
          <p:spPr>
            <a:xfrm>
              <a:off x="5037069" y="3903804"/>
              <a:ext cx="705954" cy="45719"/>
            </a:xfrm>
            <a:prstGeom prst="rect">
              <a:avLst/>
            </a:prstGeom>
            <a:solidFill>
              <a:srgbClr val="E32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11" name="Rounded Rectangle 18">
              <a:extLst>
                <a:ext uri="{FF2B5EF4-FFF2-40B4-BE49-F238E27FC236}">
                  <a16:creationId xmlns:a16="http://schemas.microsoft.com/office/drawing/2014/main" id="{185177AF-A8F5-FC01-FFF9-9749ADBFFBAB}"/>
                </a:ext>
              </a:extLst>
            </p:cNvPr>
            <p:cNvSpPr/>
            <p:nvPr/>
          </p:nvSpPr>
          <p:spPr>
            <a:xfrm>
              <a:off x="5743023" y="3903804"/>
              <a:ext cx="705954" cy="45719"/>
            </a:xfrm>
            <a:prstGeom prst="rect">
              <a:avLst/>
            </a:prstGeom>
            <a:solidFill>
              <a:srgbClr val="F79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12" name="Rounded Rectangle 18">
              <a:extLst>
                <a:ext uri="{FF2B5EF4-FFF2-40B4-BE49-F238E27FC236}">
                  <a16:creationId xmlns:a16="http://schemas.microsoft.com/office/drawing/2014/main" id="{83B5C6A6-13A5-726D-D773-15AF645BC4D3}"/>
                </a:ext>
              </a:extLst>
            </p:cNvPr>
            <p:cNvSpPr/>
            <p:nvPr/>
          </p:nvSpPr>
          <p:spPr>
            <a:xfrm>
              <a:off x="6448978" y="3903804"/>
              <a:ext cx="705954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  <p:sp>
          <p:nvSpPr>
            <p:cNvPr id="13" name="Rounded Rectangle 18">
              <a:extLst>
                <a:ext uri="{FF2B5EF4-FFF2-40B4-BE49-F238E27FC236}">
                  <a16:creationId xmlns:a16="http://schemas.microsoft.com/office/drawing/2014/main" id="{229A74F4-0C58-238B-401A-F71C028AF400}"/>
                </a:ext>
              </a:extLst>
            </p:cNvPr>
            <p:cNvSpPr/>
            <p:nvPr/>
          </p:nvSpPr>
          <p:spPr>
            <a:xfrm>
              <a:off x="7154932" y="3903804"/>
              <a:ext cx="705954" cy="45719"/>
            </a:xfrm>
            <a:prstGeom prst="rect">
              <a:avLst/>
            </a:prstGeom>
            <a:solidFill>
              <a:srgbClr val="47B1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91440" bIns="91440" rtlCol="0" anchor="ctr" anchorCtr="0"/>
            <a:lstStyle/>
            <a:p>
              <a:pPr algn="r"/>
              <a:endParaRPr lang="en-US" sz="900" b="1" dirty="0">
                <a:solidFill>
                  <a:schemeClr val="bg2"/>
                </a:solidFill>
              </a:endParaRP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4946E894-6FF0-A741-575D-730CC8D4F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388" y="2627186"/>
            <a:ext cx="6237673" cy="1325506"/>
          </a:xfrm>
          <a:prstGeom prst="rect">
            <a:avLst/>
          </a:prstGeom>
        </p:spPr>
      </p:pic>
      <p:sp>
        <p:nvSpPr>
          <p:cNvPr id="3" name="TextBox 20">
            <a:extLst>
              <a:ext uri="{FF2B5EF4-FFF2-40B4-BE49-F238E27FC236}">
                <a16:creationId xmlns:a16="http://schemas.microsoft.com/office/drawing/2014/main" id="{8A6BAF2A-6069-C96A-0CE9-CF9DDEF076B1}"/>
              </a:ext>
            </a:extLst>
          </p:cNvPr>
          <p:cNvSpPr txBox="1"/>
          <p:nvPr/>
        </p:nvSpPr>
        <p:spPr>
          <a:xfrm>
            <a:off x="3575138" y="4062331"/>
            <a:ext cx="2164173" cy="617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ventas@canaldirecto.com.ar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11 4760 – 6800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3D2B03-F28F-587C-E732-98D1BD2E0B3C}"/>
              </a:ext>
            </a:extLst>
          </p:cNvPr>
          <p:cNvSpPr txBox="1"/>
          <p:nvPr/>
        </p:nvSpPr>
        <p:spPr>
          <a:xfrm>
            <a:off x="6755906" y="1640063"/>
            <a:ext cx="14914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chemeClr val="bg1"/>
                </a:solidFill>
              </a:rPr>
              <a:t>Logo color blanco Canal Directo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332E06E-C187-EAE5-B4BB-08C75AA2135C}"/>
              </a:ext>
            </a:extLst>
          </p:cNvPr>
          <p:cNvCxnSpPr>
            <a:cxnSpLocks/>
          </p:cNvCxnSpPr>
          <p:nvPr/>
        </p:nvCxnSpPr>
        <p:spPr>
          <a:xfrm flipH="1">
            <a:off x="7173157" y="2133600"/>
            <a:ext cx="142043" cy="733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F1B4F41-141B-39B8-46A4-FFBBE5EF0B74}"/>
              </a:ext>
            </a:extLst>
          </p:cNvPr>
          <p:cNvCxnSpPr/>
          <p:nvPr/>
        </p:nvCxnSpPr>
        <p:spPr>
          <a:xfrm>
            <a:off x="5814874" y="3918403"/>
            <a:ext cx="1624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6105FEC-A1A5-10CA-6BBA-8266CF430615}"/>
              </a:ext>
            </a:extLst>
          </p:cNvPr>
          <p:cNvSpPr txBox="1"/>
          <p:nvPr/>
        </p:nvSpPr>
        <p:spPr>
          <a:xfrm>
            <a:off x="7587061" y="3577701"/>
            <a:ext cx="1388263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chemeClr val="bg1"/>
                </a:solidFill>
              </a:rPr>
              <a:t>Subrayado de colores correspondientes a cada servicio + institucional</a:t>
            </a:r>
          </a:p>
          <a:p>
            <a:endParaRPr lang="es-AR" sz="1050" dirty="0">
              <a:solidFill>
                <a:schemeClr val="bg1"/>
              </a:solidFill>
            </a:endParaRPr>
          </a:p>
          <a:p>
            <a:r>
              <a:rPr lang="es-AR" sz="1050" dirty="0">
                <a:solidFill>
                  <a:schemeClr val="bg1"/>
                </a:solidFill>
              </a:rPr>
              <a:t>Orden: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50" dirty="0">
                <a:solidFill>
                  <a:schemeClr val="bg1"/>
                </a:solidFill>
              </a:rPr>
              <a:t>Violeta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50" dirty="0">
                <a:solidFill>
                  <a:schemeClr val="bg1"/>
                </a:solidFill>
              </a:rPr>
              <a:t>Magenta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50" dirty="0">
                <a:solidFill>
                  <a:schemeClr val="bg1"/>
                </a:solidFill>
              </a:rPr>
              <a:t>Naranja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50" dirty="0">
                <a:solidFill>
                  <a:schemeClr val="bg1"/>
                </a:solidFill>
              </a:rPr>
              <a:t>Gris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50" dirty="0">
                <a:solidFill>
                  <a:schemeClr val="bg1"/>
                </a:solidFill>
              </a:rPr>
              <a:t>Celeste</a:t>
            </a:r>
          </a:p>
          <a:p>
            <a:endParaRPr lang="es-AR" sz="1050" dirty="0">
              <a:solidFill>
                <a:schemeClr val="bg1"/>
              </a:solidFill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2EE6928-4FC4-3309-9A5B-BC01982BD507}"/>
              </a:ext>
            </a:extLst>
          </p:cNvPr>
          <p:cNvCxnSpPr>
            <a:cxnSpLocks/>
          </p:cNvCxnSpPr>
          <p:nvPr/>
        </p:nvCxnSpPr>
        <p:spPr>
          <a:xfrm flipH="1">
            <a:off x="3436309" y="4423283"/>
            <a:ext cx="277658" cy="501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9963B9B-DA53-885F-1C14-246478E06E8E}"/>
              </a:ext>
            </a:extLst>
          </p:cNvPr>
          <p:cNvSpPr txBox="1"/>
          <p:nvPr/>
        </p:nvSpPr>
        <p:spPr>
          <a:xfrm>
            <a:off x="2871926" y="5023524"/>
            <a:ext cx="409704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50" dirty="0">
                <a:solidFill>
                  <a:schemeClr val="bg1"/>
                </a:solidFill>
              </a:rPr>
              <a:t>Datos de contacto</a:t>
            </a:r>
          </a:p>
          <a:p>
            <a:endParaRPr lang="es-AR" sz="1050" dirty="0">
              <a:solidFill>
                <a:schemeClr val="bg1"/>
              </a:solidFill>
            </a:endParaRPr>
          </a:p>
          <a:p>
            <a:r>
              <a:rPr lang="es-AR" sz="1050" dirty="0">
                <a:solidFill>
                  <a:schemeClr val="bg1"/>
                </a:solidFill>
              </a:rPr>
              <a:t>Tipografía: Source Sans Pro (Cuerpo)</a:t>
            </a:r>
          </a:p>
          <a:p>
            <a:r>
              <a:rPr lang="es-AR" sz="1050" dirty="0">
                <a:solidFill>
                  <a:schemeClr val="bg1"/>
                </a:solidFill>
              </a:rPr>
              <a:t>Tamaño de la letra: 12</a:t>
            </a:r>
          </a:p>
          <a:p>
            <a:endParaRPr lang="es-AR" sz="1050" dirty="0"/>
          </a:p>
        </p:txBody>
      </p:sp>
    </p:spTree>
    <p:extLst>
      <p:ext uri="{BB962C8B-B14F-4D97-AF65-F5344CB8AC3E}">
        <p14:creationId xmlns:p14="http://schemas.microsoft.com/office/powerpoint/2010/main" val="64475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Colors 14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81C341"/>
      </a:accent1>
      <a:accent2>
        <a:srgbClr val="ED0F7B"/>
      </a:accent2>
      <a:accent3>
        <a:srgbClr val="FEBA12"/>
      </a:accent3>
      <a:accent4>
        <a:srgbClr val="0CAEDF"/>
      </a:accent4>
      <a:accent5>
        <a:srgbClr val="758AC5"/>
      </a:accent5>
      <a:accent6>
        <a:srgbClr val="10B39C"/>
      </a:accent6>
      <a:hlink>
        <a:srgbClr val="A05024"/>
      </a:hlink>
      <a:folHlink>
        <a:srgbClr val="FEC037"/>
      </a:folHlink>
    </a:clrScheme>
    <a:fontScheme name="Custom 13">
      <a:majorFont>
        <a:latin typeface="Montserrat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5175</TotalTime>
  <Words>1038</Words>
  <Application>Microsoft Office PowerPoint</Application>
  <PresentationFormat>Presentación en pantalla (4:3)</PresentationFormat>
  <Paragraphs>202</Paragraphs>
  <Slides>10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Montserrat</vt:lpstr>
      <vt:lpstr>Roboto Regular</vt:lpstr>
      <vt:lpstr>Source Sans Pro</vt:lpstr>
      <vt:lpstr>Office Theme</vt:lpstr>
      <vt:lpstr>Gráfico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user'</dc:creator>
  <cp:lastModifiedBy>Florencia Leguizamon</cp:lastModifiedBy>
  <cp:revision>333</cp:revision>
  <dcterms:created xsi:type="dcterms:W3CDTF">2018-08-19T09:15:37Z</dcterms:created>
  <dcterms:modified xsi:type="dcterms:W3CDTF">2023-01-27T15:59:00Z</dcterms:modified>
  <cp:contentStatus/>
</cp:coreProperties>
</file>